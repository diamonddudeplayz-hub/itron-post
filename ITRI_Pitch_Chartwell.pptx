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74151"/>
                </a:solidFill>
                <a:latin typeface="Arial"/>
              </a:defRPr>
            </a:pPr>
            <a:r>
              <a:rPr sz="1100" b="0" i="0" u="none" strike="noStrike">
                <a:solidFill>
                  <a:srgbClr val="374151"/>
                </a:solidFill>
                <a:latin typeface="Arial"/>
              </a:rPr>
              <a:t>Adjusted Gross Margin — Q1 2021 to Q2 2026</a:t>
            </a:r>
          </a:p>
        </c:rich>
      </c:tx>
      <c:layout/>
      <c:overlay val="0"/>
    </c:title>
    <c:autoTitleDeleted val="0"/>
    <c:plotArea>
      <c:layout/>
      <c:barChart>
        <c:barDir val="col"/>
        <c:grouping val="clustered"/>
        <c:varyColors val="0"/>
        <c:ser>
          <c:idx val="0"/>
          <c:order val="0"/>
          <c:tx>
            <c:strRef>
              <c:f>Sheet1!$B$1</c:f>
              <c:strCache>
                <c:ptCount val="1"/>
                <c:pt idx="0">
                  <c:v>Adj. GM %</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Sheet1!$A$2:$A$23</c:f>
              <c:multiLvlStrCache>
                <c:ptCount val="22"/>
                <c:lvl>
                  <c:pt idx="0">
                    <c:v>Q1'21</c:v>
                  </c:pt>
                  <c:pt idx="1">
                    <c:v>Q2'21</c:v>
                  </c:pt>
                  <c:pt idx="2">
                    <c:v>Q3'21</c:v>
                  </c:pt>
                  <c:pt idx="3">
                    <c:v>Q4'21</c:v>
                  </c:pt>
                  <c:pt idx="4">
                    <c:v>Q1'22</c:v>
                  </c:pt>
                  <c:pt idx="5">
                    <c:v>Q2'22</c:v>
                  </c:pt>
                  <c:pt idx="6">
                    <c:v>Q3'22</c:v>
                  </c:pt>
                  <c:pt idx="7">
                    <c:v>Q4'22</c:v>
                  </c:pt>
                  <c:pt idx="8">
                    <c:v>Q1'23</c:v>
                  </c:pt>
                  <c:pt idx="9">
                    <c:v>Q2'23</c:v>
                  </c:pt>
                  <c:pt idx="10">
                    <c:v>Q3'23</c:v>
                  </c:pt>
                  <c:pt idx="11">
                    <c:v>Q4'23</c:v>
                  </c:pt>
                  <c:pt idx="12">
                    <c:v>Q1'24</c:v>
                  </c:pt>
                  <c:pt idx="13">
                    <c:v>Q2'24</c:v>
                  </c:pt>
                  <c:pt idx="14">
                    <c:v>Q3'24</c:v>
                  </c:pt>
                  <c:pt idx="15">
                    <c:v>Q4'24</c:v>
                  </c:pt>
                  <c:pt idx="16">
                    <c:v>Q1'25</c:v>
                  </c:pt>
                  <c:pt idx="17">
                    <c:v>Q2'25</c:v>
                  </c:pt>
                  <c:pt idx="18">
                    <c:v>Q3'25</c:v>
                  </c:pt>
                  <c:pt idx="19">
                    <c:v>Q4'25</c:v>
                  </c:pt>
                  <c:pt idx="20">
                    <c:v>Q1'26</c:v>
                  </c:pt>
                  <c:pt idx="21">
                    <c:v>Q2'26</c:v>
                  </c:pt>
                </c:lvl>
              </c:multiLvlStrCache>
            </c:multiLvlStrRef>
          </c:cat>
          <c:val>
            <c:numRef>
              <c:f>Sheet1!$B$2:$B$23</c:f>
              <c:numCache>
                <c:formatCode>General</c:formatCode>
                <c:ptCount val="22"/>
                <c:pt idx="0">
                  <c:v>32.2</c:v>
                </c:pt>
                <c:pt idx="1">
                  <c:v>30.6</c:v>
                </c:pt>
                <c:pt idx="2">
                  <c:v>27.7</c:v>
                </c:pt>
                <c:pt idx="3">
                  <c:v>25</c:v>
                </c:pt>
                <c:pt idx="4">
                  <c:v>28.4</c:v>
                </c:pt>
                <c:pt idx="5">
                  <c:v>29.2</c:v>
                </c:pt>
                <c:pt idx="6">
                  <c:v>28.5</c:v>
                </c:pt>
                <c:pt idx="7">
                  <c:v>30.1</c:v>
                </c:pt>
                <c:pt idx="8">
                  <c:v>31.6</c:v>
                </c:pt>
                <c:pt idx="9">
                  <c:v>32.1</c:v>
                </c:pt>
                <c:pt idx="10">
                  <c:v>33.4</c:v>
                </c:pt>
                <c:pt idx="11">
                  <c:v>34</c:v>
                </c:pt>
                <c:pt idx="12">
                  <c:v>34</c:v>
                </c:pt>
                <c:pt idx="13">
                  <c:v>34.6</c:v>
                </c:pt>
                <c:pt idx="14">
                  <c:v>34.1</c:v>
                </c:pt>
                <c:pt idx="15">
                  <c:v>34.9</c:v>
                </c:pt>
                <c:pt idx="16">
                  <c:v>35.8</c:v>
                </c:pt>
                <c:pt idx="17">
                  <c:v>36.9</c:v>
                </c:pt>
                <c:pt idx="18">
                  <c:v>37.7</c:v>
                </c:pt>
                <c:pt idx="19">
                  <c:v>40.7</c:v>
                </c:pt>
                <c:pt idx="20">
                  <c:v>40.7</c:v>
                </c:pt>
                <c:pt idx="21">
                  <c:v>41.4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6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44"/>
          <c:min val="22"/>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ARR ($M)</c:v>
                </c:pt>
              </c:strCache>
            </c:strRef>
          </c:tx>
          <c:spPr>
            <a:solidFill>
              <a:srgbClr val="1A2332"/>
            </a:solidFill>
            <a:effectLst/>
          </c:spPr>
          <c:invertIfNegative val="0"/>
          <c:dLbls>
            <c:numFmt formatCode="#,##0" sourceLinked="0"/>
            <c:txPr>
              <a:bodyPr/>
              <a:lstStyle/>
              <a:p>
                <a:pPr>
                  <a:defRPr b="0" i="0" strike="noStrike" sz="900" u="none">
                    <a:solidFill>
                      <a:srgbClr val="374151"/>
                    </a:solidFill>
                    <a:latin typeface="Arial"/>
                  </a:defRPr>
                </a:pPr>
              </a:p>
            </c:txPr>
            <c:showLegendKey val="0"/>
            <c:showVal val="1"/>
            <c:showCatName val="0"/>
            <c:showSerName val="0"/>
            <c:showPercent val="0"/>
            <c:showBubbleSize val="0"/>
            <c:showLeaderLines val="0"/>
          </c:dLbls>
          <c:cat>
            <c:multiLvlStrRef>
              <c:f>Sheet1!$A$2:$A$6</c:f>
              <c:multiLvlStrCache>
                <c:ptCount val="5"/>
                <c:lvl>
                  <c:pt idx="0">
                    <c:v>Q4 2023</c:v>
                  </c:pt>
                  <c:pt idx="1">
                    <c:v>Q4 2024</c:v>
                  </c:pt>
                  <c:pt idx="2">
                    <c:v>Q4 2025</c:v>
                  </c:pt>
                  <c:pt idx="3">
                    <c:v>Q1 2026</c:v>
                  </c:pt>
                  <c:pt idx="4">
                    <c:v>Q2 2026</c:v>
                  </c:pt>
                </c:lvl>
              </c:multiLvlStrCache>
            </c:multiLvlStrRef>
          </c:cat>
          <c:val>
            <c:numRef>
              <c:f>Sheet1!$B$2:$B$6</c:f>
              <c:numCache>
                <c:formatCode>General</c:formatCode>
                <c:ptCount val="5"/>
                <c:pt idx="0">
                  <c:v>296</c:v>
                </c:pt>
                <c:pt idx="1">
                  <c:v>306</c:v>
                </c:pt>
                <c:pt idx="2">
                  <c:v>368</c:v>
                </c:pt>
                <c:pt idx="3">
                  <c:v>414</c:v>
                </c:pt>
                <c:pt idx="4">
                  <c:v>417</c:v>
                </c:pt>
              </c:numCache>
            </c:numRef>
          </c:val>
        </c:ser>
        <c:dLbls>
          <c:numFmt formatCode="#,##0" sourceLinked="0"/>
          <c:txPr>
            <a:bodyPr/>
            <a:lstStyle/>
            <a:p>
              <a:pPr>
                <a:defRPr b="0" i="0" strike="noStrike" sz="900" u="none">
                  <a:solidFill>
                    <a:srgbClr val="3741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in val="23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Long ITRI. This material is for informational purposes only and does not constitute investment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640080" y="548640"/>
            <a:ext cx="1463040" cy="502920"/>
          </a:xfrm>
          <a:prstGeom prst="roundRect">
            <a:avLst>
              <a:gd name="adj" fmla="val 9091"/>
            </a:avLst>
          </a:prstGeom>
          <a:solidFill>
            <a:srgbClr val="FFFFFF"/>
          </a:solidFill>
          <a:ln/>
        </p:spPr>
        <p:txBody>
          <a:bodyPr wrap="square" rtlCol="0" anchor="ctr"/>
          <a:lstStyle/>
          <a:p>
            <a:pPr algn="ctr" indent="0" marL="0">
              <a:buNone/>
            </a:pPr>
            <a:r>
              <a:rPr lang="en-US" sz="2800" b="1" dirty="0">
                <a:solidFill>
                  <a:srgbClr val="1A2332"/>
                </a:solidFill>
                <a:latin typeface="Arial" pitchFamily="34" charset="0"/>
                <a:ea typeface="Arial" pitchFamily="34" charset="-122"/>
                <a:cs typeface="Arial" pitchFamily="34" charset="-120"/>
              </a:rPr>
              <a:t>ITRI</a:t>
            </a:r>
            <a:endParaRPr lang="en-US" sz="2800" dirty="0"/>
          </a:p>
        </p:txBody>
      </p:sp>
      <p:sp>
        <p:nvSpPr>
          <p:cNvPr id="3" name="Text 1"/>
          <p:cNvSpPr/>
          <p:nvPr/>
        </p:nvSpPr>
        <p:spPr>
          <a:xfrm>
            <a:off x="2286000" y="548640"/>
            <a:ext cx="1097280" cy="502920"/>
          </a:xfrm>
          <a:prstGeom prst="roundRect">
            <a:avLst>
              <a:gd name="adj" fmla="val 9091"/>
            </a:avLst>
          </a:prstGeom>
          <a:solidFill>
            <a:srgbClr val="10B981"/>
          </a:solidFill>
          <a:ln/>
        </p:spPr>
        <p:txBody>
          <a:bodyPr wrap="square" rtlCol="0" anchor="ctr"/>
          <a:lstStyle/>
          <a:p>
            <a:pPr algn="ctr" indent="0" marL="0">
              <a:buNone/>
            </a:pPr>
            <a:r>
              <a:rPr lang="en-US" sz="2000" b="1" dirty="0">
                <a:solidFill>
                  <a:srgbClr val="1A2332"/>
                </a:solidFill>
                <a:latin typeface="Arial" pitchFamily="34" charset="0"/>
                <a:ea typeface="Arial" pitchFamily="34" charset="-122"/>
                <a:cs typeface="Arial" pitchFamily="34" charset="-120"/>
              </a:rPr>
              <a:t>LONG</a:t>
            </a:r>
            <a:endParaRPr lang="en-US" sz="2000" dirty="0"/>
          </a:p>
        </p:txBody>
      </p:sp>
      <p:sp>
        <p:nvSpPr>
          <p:cNvPr id="4" name="Text 2"/>
          <p:cNvSpPr/>
          <p:nvPr/>
        </p:nvSpPr>
        <p:spPr>
          <a:xfrm>
            <a:off x="640080" y="1371600"/>
            <a:ext cx="7863840" cy="6400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Itron, Inc.</a:t>
            </a:r>
            <a:endParaRPr lang="en-US" sz="4400" dirty="0"/>
          </a:p>
        </p:txBody>
      </p:sp>
      <p:sp>
        <p:nvSpPr>
          <p:cNvPr id="5" name="Text 3"/>
          <p:cNvSpPr/>
          <p:nvPr/>
        </p:nvSpPr>
        <p:spPr>
          <a:xfrm>
            <a:off x="640080" y="2011680"/>
            <a:ext cx="7863840" cy="457200"/>
          </a:xfrm>
          <a:prstGeom prst="rect">
            <a:avLst/>
          </a:prstGeom>
          <a:noFill/>
          <a:ln/>
        </p:spPr>
        <p:txBody>
          <a:bodyPr wrap="square" lIns="0" tIns="0" rIns="0" bIns="0" rtlCol="0" anchor="ctr"/>
          <a:lstStyle/>
          <a:p>
            <a:pPr indent="0" marL="0">
              <a:buNone/>
            </a:pPr>
            <a:r>
              <a:rPr lang="en-US" sz="2000" dirty="0">
                <a:solidFill>
                  <a:srgbClr val="6B7280"/>
                </a:solidFill>
                <a:latin typeface="Arial" pitchFamily="34" charset="0"/>
                <a:ea typeface="Arial" pitchFamily="34" charset="-122"/>
                <a:cs typeface="Arial" pitchFamily="34" charset="-120"/>
              </a:rPr>
              <a:t>A $417M ARR Software Business Priced as Hardware</a:t>
            </a:r>
            <a:endParaRPr lang="en-US" sz="2000" dirty="0"/>
          </a:p>
        </p:txBody>
      </p:sp>
      <p:sp>
        <p:nvSpPr>
          <p:cNvPr id="6" name="Shape 4"/>
          <p:cNvSpPr/>
          <p:nvPr/>
        </p:nvSpPr>
        <p:spPr>
          <a:xfrm>
            <a:off x="640080" y="2743200"/>
            <a:ext cx="2743200" cy="0"/>
          </a:xfrm>
          <a:prstGeom prst="line">
            <a:avLst/>
          </a:prstGeom>
          <a:noFill/>
          <a:ln w="25400">
            <a:solidFill>
              <a:srgbClr val="10B981"/>
            </a:solidFill>
            <a:prstDash val="solid"/>
          </a:ln>
        </p:spPr>
      </p:sp>
      <p:sp>
        <p:nvSpPr>
          <p:cNvPr id="7" name="Text 5"/>
          <p:cNvSpPr/>
          <p:nvPr/>
        </p:nvSpPr>
        <p:spPr>
          <a:xfrm>
            <a:off x="640080" y="3017520"/>
            <a:ext cx="7863840" cy="36576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Darren Leung  |  Chartwell Capital  |  August 2026</a:t>
            </a:r>
            <a:endParaRPr lang="en-US" sz="1300" dirty="0"/>
          </a:p>
        </p:txBody>
      </p:sp>
      <p:sp>
        <p:nvSpPr>
          <p:cNvPr id="8" name="Shape 6"/>
          <p:cNvSpPr/>
          <p:nvPr/>
        </p:nvSpPr>
        <p:spPr>
          <a:xfrm>
            <a:off x="640080" y="3840480"/>
            <a:ext cx="1920240" cy="822960"/>
          </a:xfrm>
          <a:prstGeom prst="roundRect">
            <a:avLst>
              <a:gd name="adj" fmla="val 5556"/>
            </a:avLst>
          </a:prstGeom>
          <a:solidFill>
            <a:srgbClr val="111822"/>
          </a:solidFill>
          <a:ln/>
        </p:spPr>
      </p:sp>
      <p:sp>
        <p:nvSpPr>
          <p:cNvPr id="9" name="Text 7"/>
          <p:cNvSpPr/>
          <p:nvPr/>
        </p:nvSpPr>
        <p:spPr>
          <a:xfrm>
            <a:off x="640080" y="3913632"/>
            <a:ext cx="1920240" cy="201168"/>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Price</a:t>
            </a:r>
            <a:endParaRPr lang="en-US" sz="1000" dirty="0"/>
          </a:p>
        </p:txBody>
      </p:sp>
      <p:sp>
        <p:nvSpPr>
          <p:cNvPr id="10" name="Text 8"/>
          <p:cNvSpPr/>
          <p:nvPr/>
        </p:nvSpPr>
        <p:spPr>
          <a:xfrm>
            <a:off x="640080" y="4096512"/>
            <a:ext cx="1920240" cy="3200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$106.29</a:t>
            </a:r>
            <a:endParaRPr lang="en-US" sz="2400" dirty="0"/>
          </a:p>
        </p:txBody>
      </p:sp>
      <p:sp>
        <p:nvSpPr>
          <p:cNvPr id="11" name="Text 9"/>
          <p:cNvSpPr/>
          <p:nvPr/>
        </p:nvSpPr>
        <p:spPr>
          <a:xfrm>
            <a:off x="640080" y="4407408"/>
            <a:ext cx="1920240" cy="182880"/>
          </a:xfrm>
          <a:prstGeom prst="rect">
            <a:avLst/>
          </a:prstGeom>
          <a:noFill/>
          <a:ln/>
        </p:spPr>
        <p:txBody>
          <a:bodyPr wrap="square" lIns="0" tIns="0" rIns="0" bIns="0" rtlCol="0" anchor="ctr"/>
          <a:lstStyle/>
          <a:p>
            <a:pPr algn="ctr" indent="0" marL="0">
              <a:buNone/>
            </a:pPr>
            <a:r>
              <a:rPr lang="en-US" sz="900" dirty="0">
                <a:solidFill>
                  <a:srgbClr val="10B981"/>
                </a:solidFill>
                <a:latin typeface="Arial" pitchFamily="34" charset="0"/>
                <a:ea typeface="Arial" pitchFamily="34" charset="-122"/>
                <a:cs typeface="Arial" pitchFamily="34" charset="-120"/>
              </a:rPr>
              <a:t>Aug 4, 2026</a:t>
            </a:r>
            <a:endParaRPr lang="en-US" sz="900" dirty="0"/>
          </a:p>
        </p:txBody>
      </p:sp>
      <p:sp>
        <p:nvSpPr>
          <p:cNvPr id="12" name="Shape 10"/>
          <p:cNvSpPr/>
          <p:nvPr/>
        </p:nvSpPr>
        <p:spPr>
          <a:xfrm>
            <a:off x="2697480" y="3840480"/>
            <a:ext cx="1920240" cy="822960"/>
          </a:xfrm>
          <a:prstGeom prst="roundRect">
            <a:avLst>
              <a:gd name="adj" fmla="val 5556"/>
            </a:avLst>
          </a:prstGeom>
          <a:solidFill>
            <a:srgbClr val="111822"/>
          </a:solidFill>
          <a:ln/>
        </p:spPr>
      </p:sp>
      <p:sp>
        <p:nvSpPr>
          <p:cNvPr id="13" name="Text 11"/>
          <p:cNvSpPr/>
          <p:nvPr/>
        </p:nvSpPr>
        <p:spPr>
          <a:xfrm>
            <a:off x="2697480" y="3913632"/>
            <a:ext cx="1920240" cy="201168"/>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Market Cap</a:t>
            </a:r>
            <a:endParaRPr lang="en-US" sz="1000" dirty="0"/>
          </a:p>
        </p:txBody>
      </p:sp>
      <p:sp>
        <p:nvSpPr>
          <p:cNvPr id="14" name="Text 12"/>
          <p:cNvSpPr/>
          <p:nvPr/>
        </p:nvSpPr>
        <p:spPr>
          <a:xfrm>
            <a:off x="2697480" y="4096512"/>
            <a:ext cx="1920240" cy="3200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$4.65B</a:t>
            </a:r>
            <a:endParaRPr lang="en-US" sz="2400" dirty="0"/>
          </a:p>
        </p:txBody>
      </p:sp>
      <p:sp>
        <p:nvSpPr>
          <p:cNvPr id="15" name="Text 13"/>
          <p:cNvSpPr/>
          <p:nvPr/>
        </p:nvSpPr>
        <p:spPr>
          <a:xfrm>
            <a:off x="2697480" y="4407408"/>
            <a:ext cx="1920240" cy="182880"/>
          </a:xfrm>
          <a:prstGeom prst="rect">
            <a:avLst/>
          </a:prstGeom>
          <a:noFill/>
          <a:ln/>
        </p:spPr>
        <p:txBody>
          <a:bodyPr wrap="square" lIns="0" tIns="0" rIns="0" bIns="0" rtlCol="0" anchor="ctr"/>
          <a:lstStyle/>
          <a:p>
            <a:pPr algn="ctr" indent="0" marL="0">
              <a:buNone/>
            </a:pPr>
            <a:r>
              <a:rPr lang="en-US" sz="900" dirty="0">
                <a:solidFill>
                  <a:srgbClr val="10B981"/>
                </a:solidFill>
                <a:latin typeface="Arial" pitchFamily="34" charset="0"/>
                <a:ea typeface="Arial" pitchFamily="34" charset="-122"/>
                <a:cs typeface="Arial" pitchFamily="34" charset="-120"/>
              </a:rPr>
              <a:t>43.8M shares</a:t>
            </a:r>
            <a:endParaRPr lang="en-US" sz="900" dirty="0"/>
          </a:p>
        </p:txBody>
      </p:sp>
      <p:sp>
        <p:nvSpPr>
          <p:cNvPr id="16" name="Shape 14"/>
          <p:cNvSpPr/>
          <p:nvPr/>
        </p:nvSpPr>
        <p:spPr>
          <a:xfrm>
            <a:off x="4754880" y="3840480"/>
            <a:ext cx="1920240" cy="822960"/>
          </a:xfrm>
          <a:prstGeom prst="roundRect">
            <a:avLst>
              <a:gd name="adj" fmla="val 5556"/>
            </a:avLst>
          </a:prstGeom>
          <a:solidFill>
            <a:srgbClr val="111822"/>
          </a:solidFill>
          <a:ln/>
        </p:spPr>
      </p:sp>
      <p:sp>
        <p:nvSpPr>
          <p:cNvPr id="17" name="Text 15"/>
          <p:cNvSpPr/>
          <p:nvPr/>
        </p:nvSpPr>
        <p:spPr>
          <a:xfrm>
            <a:off x="4754880" y="3913632"/>
            <a:ext cx="1920240" cy="201168"/>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ARR</a:t>
            </a:r>
            <a:endParaRPr lang="en-US" sz="1000" dirty="0"/>
          </a:p>
        </p:txBody>
      </p:sp>
      <p:sp>
        <p:nvSpPr>
          <p:cNvPr id="18" name="Text 16"/>
          <p:cNvSpPr/>
          <p:nvPr/>
        </p:nvSpPr>
        <p:spPr>
          <a:xfrm>
            <a:off x="4754880" y="4096512"/>
            <a:ext cx="1920240" cy="3200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$417M</a:t>
            </a:r>
            <a:endParaRPr lang="en-US" sz="2400" dirty="0"/>
          </a:p>
        </p:txBody>
      </p:sp>
      <p:sp>
        <p:nvSpPr>
          <p:cNvPr id="19" name="Text 17"/>
          <p:cNvSpPr/>
          <p:nvPr/>
        </p:nvSpPr>
        <p:spPr>
          <a:xfrm>
            <a:off x="4754880" y="4407408"/>
            <a:ext cx="1920240" cy="182880"/>
          </a:xfrm>
          <a:prstGeom prst="rect">
            <a:avLst/>
          </a:prstGeom>
          <a:noFill/>
          <a:ln/>
        </p:spPr>
        <p:txBody>
          <a:bodyPr wrap="square" lIns="0" tIns="0" rIns="0" bIns="0" rtlCol="0" anchor="ctr"/>
          <a:lstStyle/>
          <a:p>
            <a:pPr algn="ctr" indent="0" marL="0">
              <a:buNone/>
            </a:pPr>
            <a:r>
              <a:rPr lang="en-US" sz="900" dirty="0">
                <a:solidFill>
                  <a:srgbClr val="10B981"/>
                </a:solidFill>
                <a:latin typeface="Arial" pitchFamily="34" charset="0"/>
                <a:ea typeface="Arial" pitchFamily="34" charset="-122"/>
                <a:cs typeface="Arial" pitchFamily="34" charset="-120"/>
              </a:rPr>
              <a:t>+21% YoY</a:t>
            </a:r>
            <a:endParaRPr lang="en-US" sz="900" dirty="0"/>
          </a:p>
        </p:txBody>
      </p:sp>
      <p:sp>
        <p:nvSpPr>
          <p:cNvPr id="20" name="Shape 18"/>
          <p:cNvSpPr/>
          <p:nvPr/>
        </p:nvSpPr>
        <p:spPr>
          <a:xfrm>
            <a:off x="6812280" y="3840480"/>
            <a:ext cx="1920240" cy="822960"/>
          </a:xfrm>
          <a:prstGeom prst="roundRect">
            <a:avLst>
              <a:gd name="adj" fmla="val 5556"/>
            </a:avLst>
          </a:prstGeom>
          <a:solidFill>
            <a:srgbClr val="111822"/>
          </a:solidFill>
          <a:ln/>
        </p:spPr>
      </p:sp>
      <p:sp>
        <p:nvSpPr>
          <p:cNvPr id="21" name="Text 19"/>
          <p:cNvSpPr/>
          <p:nvPr/>
        </p:nvSpPr>
        <p:spPr>
          <a:xfrm>
            <a:off x="6812280" y="3913632"/>
            <a:ext cx="1920240" cy="201168"/>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Adj. Gross Margin</a:t>
            </a:r>
            <a:endParaRPr lang="en-US" sz="1000" dirty="0"/>
          </a:p>
        </p:txBody>
      </p:sp>
      <p:sp>
        <p:nvSpPr>
          <p:cNvPr id="22" name="Text 20"/>
          <p:cNvSpPr/>
          <p:nvPr/>
        </p:nvSpPr>
        <p:spPr>
          <a:xfrm>
            <a:off x="6812280" y="4096512"/>
            <a:ext cx="1920240" cy="3200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41.4%</a:t>
            </a:r>
            <a:endParaRPr lang="en-US" sz="2400" dirty="0"/>
          </a:p>
        </p:txBody>
      </p:sp>
      <p:sp>
        <p:nvSpPr>
          <p:cNvPr id="23" name="Text 21"/>
          <p:cNvSpPr/>
          <p:nvPr/>
        </p:nvSpPr>
        <p:spPr>
          <a:xfrm>
            <a:off x="6812280" y="4407408"/>
            <a:ext cx="1920240" cy="182880"/>
          </a:xfrm>
          <a:prstGeom prst="rect">
            <a:avLst/>
          </a:prstGeom>
          <a:noFill/>
          <a:ln/>
        </p:spPr>
        <p:txBody>
          <a:bodyPr wrap="square" lIns="0" tIns="0" rIns="0" bIns="0" rtlCol="0" anchor="ctr"/>
          <a:lstStyle/>
          <a:p>
            <a:pPr algn="ctr" indent="0" marL="0">
              <a:buNone/>
            </a:pPr>
            <a:r>
              <a:rPr lang="en-US" sz="900" dirty="0">
                <a:solidFill>
                  <a:srgbClr val="10B981"/>
                </a:solidFill>
                <a:latin typeface="Arial" pitchFamily="34" charset="0"/>
                <a:ea typeface="Arial" pitchFamily="34" charset="-122"/>
                <a:cs typeface="Arial" pitchFamily="34" charset="-120"/>
              </a:rPr>
              <a:t>Record (Q2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lIns="0" tIns="0" rIns="0" bIns="0" rtlCol="0" anchor="ctr"/>
          <a:lstStyle/>
          <a:p>
            <a:pPr indent="0" marL="0">
              <a:buNone/>
            </a:pPr>
            <a:r>
              <a:rPr lang="en-US" sz="2600" b="1" dirty="0">
                <a:solidFill>
                  <a:srgbClr val="1A2332"/>
                </a:solidFill>
                <a:latin typeface="Arial" pitchFamily="34" charset="0"/>
                <a:ea typeface="Arial" pitchFamily="34" charset="-122"/>
                <a:cs typeface="Arial" pitchFamily="34" charset="-120"/>
              </a:rPr>
              <a:t>Valuation: Reverse Sum-of-the-Parts</a:t>
            </a:r>
            <a:endParaRPr lang="en-US" sz="2600" dirty="0"/>
          </a:p>
        </p:txBody>
      </p:sp>
      <p:sp>
        <p:nvSpPr>
          <p:cNvPr id="3" name="Text 1"/>
          <p:cNvSpPr/>
          <p:nvPr/>
        </p:nvSpPr>
        <p:spPr>
          <a:xfrm>
            <a:off x="548640" y="822960"/>
            <a:ext cx="4114800" cy="274320"/>
          </a:xfrm>
          <a:prstGeom prst="rect">
            <a:avLst/>
          </a:prstGeom>
          <a:noFill/>
          <a:ln/>
        </p:spPr>
        <p:txBody>
          <a:bodyPr wrap="square" lIns="0" tIns="0" rIns="0" bIns="0" rtlCol="0" anchor="ctr"/>
          <a:lstStyle/>
          <a:p>
            <a:pPr indent="0" marL="0">
              <a:buNone/>
            </a:pPr>
            <a:r>
              <a:rPr lang="en-US" sz="1300" b="1" dirty="0">
                <a:solidFill>
                  <a:srgbClr val="374151"/>
                </a:solidFill>
                <a:latin typeface="Arial" pitchFamily="34" charset="0"/>
                <a:ea typeface="Arial" pitchFamily="34" charset="-122"/>
                <a:cs typeface="Arial" pitchFamily="34" charset="-120"/>
              </a:rPr>
              <a:t>Current Implied Valuation</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4572000" cy="914400"/>
        </p:xfrm>
        <a:graphic>
          <a:graphicData uri="http://schemas.openxmlformats.org/drawingml/2006/table">
            <a:tbl>
              <a:tblPr/>
              <a:tblGrid>
                <a:gridCol w="2194560"/>
                <a:gridCol w="914400"/>
                <a:gridCol w="1463040"/>
              </a:tblGrid>
              <a:tr h="237744">
                <a:tc>
                  <a:txBody>
                    <a:bodyPr/>
                    <a:lstStyle/>
                    <a:p>
                      <a:pPr indent="0" marL="0">
                        <a:buNone/>
                      </a:pP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900" b="1" dirty="0">
                          <a:solidFill>
                            <a:srgbClr val="FFFFFF"/>
                          </a:solidFill>
                          <a:latin typeface="Arial" pitchFamily="34" charset="0"/>
                          <a:ea typeface="Arial" pitchFamily="34" charset="-122"/>
                          <a:cs typeface="Arial" pitchFamily="34" charset="-120"/>
                        </a:rPr>
                        <a:t>Value</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Source</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r>
              <a:tr h="256032">
                <a:tc>
                  <a:txBody>
                    <a:bodyPr/>
                    <a:lstStyle/>
                    <a:p>
                      <a:pPr indent="0" marL="0">
                        <a:buNone/>
                      </a:pPr>
                      <a:r>
                        <a:rPr lang="en-US" sz="1000" b="1" dirty="0">
                          <a:solidFill>
                            <a:srgbClr val="374151"/>
                          </a:solidFill>
                          <a:latin typeface="Arial" pitchFamily="34" charset="0"/>
                          <a:ea typeface="Arial" pitchFamily="34" charset="-122"/>
                          <a:cs typeface="Arial" pitchFamily="34" charset="-120"/>
                        </a:rPr>
                        <a:t>Enterprise Value</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374151"/>
                          </a:solidFill>
                          <a:latin typeface="Arial" pitchFamily="34" charset="0"/>
                          <a:ea typeface="Arial" pitchFamily="34" charset="-122"/>
                          <a:cs typeface="Arial" pitchFamily="34" charset="-120"/>
                        </a:rPr>
                        <a:t>$5,483M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6B7280"/>
                          </a:solidFill>
                          <a:latin typeface="Arial" pitchFamily="34" charset="0"/>
                          <a:ea typeface="Arial" pitchFamily="34" charset="-122"/>
                          <a:cs typeface="Arial" pitchFamily="34" charset="-120"/>
                        </a:rPr>
                        <a:t>Mkt cap + net debt</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19456">
                <a:tc>
                  <a:txBody>
                    <a:bodyPr/>
                    <a:lstStyle/>
                    <a:p>
                      <a:pPr indent="0" marL="0">
                        <a:buNone/>
                      </a:pPr>
                      <a:r>
                        <a:rPr lang="en-US" sz="900" dirty="0">
                          <a:solidFill>
                            <a:srgbClr val="6B7280"/>
                          </a:solidFill>
                          <a:latin typeface="Arial" pitchFamily="34" charset="0"/>
                          <a:ea typeface="Arial" pitchFamily="34" charset="-122"/>
                          <a:cs typeface="Arial" pitchFamily="34" charset="-120"/>
                        </a:rPr>
                        <a:t>  Market Cap (43.8M x $106.29)</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900" dirty="0">
                          <a:solidFill>
                            <a:srgbClr val="6B7280"/>
                          </a:solidFill>
                          <a:latin typeface="Arial" pitchFamily="34" charset="0"/>
                          <a:ea typeface="Arial" pitchFamily="34" charset="-122"/>
                          <a:cs typeface="Arial" pitchFamily="34" charset="-120"/>
                        </a:rPr>
                        <a:t>$4,653M</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6B7280"/>
                          </a:solidFill>
                          <a:latin typeface="Arial" pitchFamily="34" charset="0"/>
                          <a:ea typeface="Arial" pitchFamily="34" charset="-122"/>
                          <a:cs typeface="Arial" pitchFamily="34" charset="-120"/>
                        </a:rPr>
                        <a:t>Q2 2026 10-Q</a:t>
                      </a:r>
                      <a:endParaRPr lang="en-US" sz="8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19456">
                <a:tc>
                  <a:txBody>
                    <a:bodyPr/>
                    <a:lstStyle/>
                    <a:p>
                      <a:pPr indent="0" marL="0">
                        <a:buNone/>
                      </a:pPr>
                      <a:r>
                        <a:rPr lang="en-US" sz="900" dirty="0">
                          <a:solidFill>
                            <a:srgbClr val="6B7280"/>
                          </a:solidFill>
                          <a:latin typeface="Arial" pitchFamily="34" charset="0"/>
                          <a:ea typeface="Arial" pitchFamily="34" charset="-122"/>
                          <a:cs typeface="Arial" pitchFamily="34" charset="-120"/>
                        </a:rPr>
                        <a:t>  Net Debt ($1,575M debt - $745M cash)</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900" dirty="0">
                          <a:solidFill>
                            <a:srgbClr val="6B7280"/>
                          </a:solidFill>
                          <a:latin typeface="Arial" pitchFamily="34" charset="0"/>
                          <a:ea typeface="Arial" pitchFamily="34" charset="-122"/>
                          <a:cs typeface="Arial" pitchFamily="34" charset="-120"/>
                        </a:rPr>
                        <a:t>$830M</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6B7280"/>
                          </a:solidFill>
                          <a:latin typeface="Arial" pitchFamily="34" charset="0"/>
                          <a:ea typeface="Arial" pitchFamily="34" charset="-122"/>
                          <a:cs typeface="Arial" pitchFamily="34" charset="-120"/>
                        </a:rPr>
                        <a:t>Q2 2026 10-Q</a:t>
                      </a:r>
                      <a:endParaRPr lang="en-US" sz="8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56032">
                <a:tc>
                  <a:txBody>
                    <a:bodyPr/>
                    <a:lstStyle/>
                    <a:p>
                      <a:pPr indent="0" marL="0">
                        <a:buNone/>
                      </a:pPr>
                      <a:r>
                        <a:rPr lang="en-US" sz="1000" b="1" dirty="0">
                          <a:solidFill>
                            <a:srgbClr val="374151"/>
                          </a:solidFill>
                          <a:latin typeface="Arial" pitchFamily="34" charset="0"/>
                          <a:ea typeface="Arial" pitchFamily="34" charset="-122"/>
                          <a:cs typeface="Arial" pitchFamily="34" charset="-120"/>
                        </a:rPr>
                        <a:t>Less: Hardware at 1.0x TTM Non-ARR Rev</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DC2626"/>
                          </a:solidFill>
                          <a:latin typeface="Arial" pitchFamily="34" charset="0"/>
                          <a:ea typeface="Arial" pitchFamily="34" charset="-122"/>
                          <a:cs typeface="Arial" pitchFamily="34" charset="-120"/>
                        </a:rPr>
                        <a:t>($1,886M)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6B7280"/>
                          </a:solidFill>
                          <a:latin typeface="Arial" pitchFamily="34" charset="0"/>
                          <a:ea typeface="Arial" pitchFamily="34" charset="-122"/>
                          <a:cs typeface="Arial" pitchFamily="34" charset="-120"/>
                        </a:rPr>
                        <a:t>TTM rev $2,303M - $417M ARR</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56032">
                <a:tc>
                  <a:txBody>
                    <a:bodyPr/>
                    <a:lstStyle/>
                    <a:p>
                      <a:pPr indent="0" marL="0">
                        <a:buNone/>
                      </a:pPr>
                      <a:r>
                        <a:rPr lang="en-US" sz="1000" b="1" dirty="0">
                          <a:solidFill>
                            <a:srgbClr val="2563EB"/>
                          </a:solidFill>
                          <a:latin typeface="Arial" pitchFamily="34" charset="0"/>
                          <a:ea typeface="Arial" pitchFamily="34" charset="-122"/>
                          <a:cs typeface="Arial" pitchFamily="34" charset="-120"/>
                        </a:rPr>
                        <a:t>= Implied Software Value</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2563EB"/>
                          </a:solidFill>
                          <a:latin typeface="Arial" pitchFamily="34" charset="0"/>
                          <a:ea typeface="Arial" pitchFamily="34" charset="-122"/>
                          <a:cs typeface="Arial" pitchFamily="34" charset="-120"/>
                        </a:rPr>
                        <a:t>$3,597M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indent="0" marL="0">
                        <a:buNone/>
                      </a:pP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56032">
                <a:tc>
                  <a:txBody>
                    <a:bodyPr/>
                    <a:lstStyle/>
                    <a:p>
                      <a:pPr indent="0" marL="0">
                        <a:buNone/>
                      </a:pPr>
                      <a:r>
                        <a:rPr lang="en-US" sz="1000" b="1" dirty="0">
                          <a:solidFill>
                            <a:srgbClr val="374151"/>
                          </a:solidFill>
                          <a:latin typeface="Arial" pitchFamily="34" charset="0"/>
                          <a:ea typeface="Arial" pitchFamily="34" charset="-122"/>
                          <a:cs typeface="Arial" pitchFamily="34" charset="-120"/>
                        </a:rPr>
                        <a:t>÷ Current ARR</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374151"/>
                          </a:solidFill>
                          <a:latin typeface="Arial" pitchFamily="34" charset="0"/>
                          <a:ea typeface="Arial" pitchFamily="34" charset="-122"/>
                          <a:cs typeface="Arial" pitchFamily="34" charset="-120"/>
                        </a:rPr>
                        <a:t>$417M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indent="0" marL="0">
                        <a:buNone/>
                      </a:pPr>
                      <a:r>
                        <a:rPr lang="en-US" sz="900" dirty="0">
                          <a:solidFill>
                            <a:srgbClr val="6B7280"/>
                          </a:solidFill>
                          <a:latin typeface="Arial" pitchFamily="34" charset="0"/>
                          <a:ea typeface="Arial" pitchFamily="34" charset="-122"/>
                          <a:cs typeface="Arial" pitchFamily="34" charset="-120"/>
                        </a:rPr>
                        <a:t>Q2 2026 reported</a:t>
                      </a:r>
                      <a:endParaRPr lang="en-US" sz="9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92608">
                <a:tc>
                  <a:txBody>
                    <a:bodyPr/>
                    <a:lstStyle/>
                    <a:p>
                      <a:pPr indent="0" marL="0">
                        <a:buNone/>
                      </a:pPr>
                      <a:r>
                        <a:rPr lang="en-US" sz="1100" b="1" dirty="0">
                          <a:solidFill>
                            <a:srgbClr val="1A2332"/>
                          </a:solidFill>
                          <a:latin typeface="Arial" pitchFamily="34" charset="0"/>
                          <a:ea typeface="Arial" pitchFamily="34" charset="-122"/>
                          <a:cs typeface="Arial" pitchFamily="34" charset="-120"/>
                        </a:rPr>
                        <a:t>= Implied EV/ARR</a:t>
                      </a:r>
                      <a:endParaRPr lang="en-US" sz="11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400" b="1" dirty="0">
                          <a:solidFill>
                            <a:srgbClr val="1A2332"/>
                          </a:solidFill>
                          <a:latin typeface="Arial" pitchFamily="34" charset="0"/>
                          <a:ea typeface="Arial" pitchFamily="34" charset="-122"/>
                          <a:cs typeface="Arial" pitchFamily="34" charset="-120"/>
                        </a:rPr>
                        <a:t>8.6x</a:t>
                      </a:r>
                      <a:endParaRPr lang="en-US" sz="14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indent="0" marL="0">
                        <a:buNone/>
                      </a:pP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bl>
          </a:graphicData>
        </a:graphic>
      </p:graphicFrame>
      <p:sp>
        <p:nvSpPr>
          <p:cNvPr id="5" name="Text 2"/>
          <p:cNvSpPr/>
          <p:nvPr/>
        </p:nvSpPr>
        <p:spPr>
          <a:xfrm>
            <a:off x="5486400" y="822960"/>
            <a:ext cx="3291840" cy="274320"/>
          </a:xfrm>
          <a:prstGeom prst="rect">
            <a:avLst/>
          </a:prstGeom>
          <a:noFill/>
          <a:ln/>
        </p:spPr>
        <p:txBody>
          <a:bodyPr wrap="square" lIns="0" tIns="0" rIns="0" bIns="0" rtlCol="0" anchor="ctr"/>
          <a:lstStyle/>
          <a:p>
            <a:pPr indent="0" marL="0">
              <a:buNone/>
            </a:pPr>
            <a:r>
              <a:rPr lang="en-US" sz="1300" b="1" dirty="0">
                <a:solidFill>
                  <a:srgbClr val="374151"/>
                </a:solidFill>
                <a:latin typeface="Arial" pitchFamily="34" charset="0"/>
                <a:ea typeface="Arial" pitchFamily="34" charset="-122"/>
                <a:cs typeface="Arial" pitchFamily="34" charset="-120"/>
              </a:rPr>
              <a:t>Target Price</a:t>
            </a:r>
            <a:endParaRPr lang="en-US" sz="1300" dirty="0"/>
          </a:p>
        </p:txBody>
      </p:sp>
      <p:sp>
        <p:nvSpPr>
          <p:cNvPr id="6" name="Shape 3"/>
          <p:cNvSpPr/>
          <p:nvPr/>
        </p:nvSpPr>
        <p:spPr>
          <a:xfrm>
            <a:off x="5486400" y="1143000"/>
            <a:ext cx="3291840" cy="1188720"/>
          </a:xfrm>
          <a:prstGeom prst="roundRect">
            <a:avLst>
              <a:gd name="adj" fmla="val 3846"/>
            </a:avLst>
          </a:prstGeom>
          <a:solidFill>
            <a:srgbClr val="F4F5F7"/>
          </a:solidFill>
          <a:ln/>
        </p:spPr>
      </p:sp>
      <p:sp>
        <p:nvSpPr>
          <p:cNvPr id="7" name="Text 4"/>
          <p:cNvSpPr/>
          <p:nvPr/>
        </p:nvSpPr>
        <p:spPr>
          <a:xfrm>
            <a:off x="5623560" y="1188720"/>
            <a:ext cx="1371600" cy="201168"/>
          </a:xfrm>
          <a:prstGeom prst="rect">
            <a:avLst/>
          </a:prstGeom>
          <a:noFill/>
          <a:ln/>
        </p:spPr>
        <p:txBody>
          <a:bodyPr wrap="square" lIns="0" tIns="0" rIns="0" bIns="0" rtlCol="0" anchor="ctr"/>
          <a:lstStyle/>
          <a:p>
            <a:pPr indent="0" marL="0">
              <a:buNone/>
            </a:pPr>
            <a:r>
              <a:rPr lang="en-US" sz="900" b="1" dirty="0">
                <a:solidFill>
                  <a:srgbClr val="6B7280"/>
                </a:solidFill>
                <a:latin typeface="Arial" pitchFamily="34" charset="0"/>
                <a:ea typeface="Arial" pitchFamily="34" charset="-122"/>
                <a:cs typeface="Arial" pitchFamily="34" charset="-120"/>
              </a:rPr>
              <a:t>BASE CASE</a:t>
            </a:r>
            <a:endParaRPr lang="en-US" sz="900" dirty="0"/>
          </a:p>
        </p:txBody>
      </p:sp>
      <p:sp>
        <p:nvSpPr>
          <p:cNvPr id="8" name="Text 5"/>
          <p:cNvSpPr/>
          <p:nvPr/>
        </p:nvSpPr>
        <p:spPr>
          <a:xfrm>
            <a:off x="7040880" y="1188720"/>
            <a:ext cx="1600200" cy="201168"/>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Current ARR</a:t>
            </a:r>
            <a:endParaRPr lang="en-US" sz="900" dirty="0"/>
          </a:p>
        </p:txBody>
      </p:sp>
      <p:sp>
        <p:nvSpPr>
          <p:cNvPr id="9" name="Text 6"/>
          <p:cNvSpPr/>
          <p:nvPr/>
        </p:nvSpPr>
        <p:spPr>
          <a:xfrm>
            <a:off x="5623560" y="1417320"/>
            <a:ext cx="1828800" cy="411480"/>
          </a:xfrm>
          <a:prstGeom prst="rect">
            <a:avLst/>
          </a:prstGeom>
          <a:noFill/>
          <a:ln/>
        </p:spPr>
        <p:txBody>
          <a:bodyPr wrap="square" lIns="0" tIns="0" rIns="0" bIns="0" rtlCol="0" anchor="ctr"/>
          <a:lstStyle/>
          <a:p>
            <a:pPr indent="0" marL="0">
              <a:buNone/>
            </a:pPr>
            <a:r>
              <a:rPr lang="en-US" sz="3600" b="1" dirty="0">
                <a:solidFill>
                  <a:srgbClr val="1A2332"/>
                </a:solidFill>
                <a:latin typeface="Arial" pitchFamily="34" charset="0"/>
                <a:ea typeface="Arial" pitchFamily="34" charset="-122"/>
                <a:cs typeface="Arial" pitchFamily="34" charset="-120"/>
              </a:rPr>
              <a:t>$119</a:t>
            </a:r>
            <a:endParaRPr lang="en-US" sz="3600" dirty="0"/>
          </a:p>
        </p:txBody>
      </p:sp>
      <p:sp>
        <p:nvSpPr>
          <p:cNvPr id="10" name="Text 7"/>
          <p:cNvSpPr/>
          <p:nvPr/>
        </p:nvSpPr>
        <p:spPr>
          <a:xfrm>
            <a:off x="5623560" y="1828800"/>
            <a:ext cx="3017520" cy="182880"/>
          </a:xfrm>
          <a:prstGeom prst="rect">
            <a:avLst/>
          </a:prstGeom>
          <a:noFill/>
          <a:ln/>
        </p:spPr>
        <p:txBody>
          <a:bodyPr wrap="square" lIns="0" tIns="0" rIns="0" bIns="0" rtlCol="0" anchor="ctr"/>
          <a:lstStyle/>
          <a:p>
            <a:pPr indent="0" marL="0">
              <a:buNone/>
            </a:pPr>
            <a:r>
              <a:rPr lang="en-US" sz="1000" dirty="0">
                <a:solidFill>
                  <a:srgbClr val="374151"/>
                </a:solidFill>
                <a:latin typeface="Arial" pitchFamily="34" charset="0"/>
                <a:ea typeface="Arial" pitchFamily="34" charset="-122"/>
                <a:cs typeface="Arial" pitchFamily="34" charset="-120"/>
              </a:rPr>
              <a:t>10x EV/ARR on $417M</a:t>
            </a:r>
            <a:endParaRPr lang="en-US" sz="1000" dirty="0"/>
          </a:p>
        </p:txBody>
      </p:sp>
      <p:sp>
        <p:nvSpPr>
          <p:cNvPr id="11" name="Text 8"/>
          <p:cNvSpPr/>
          <p:nvPr/>
        </p:nvSpPr>
        <p:spPr>
          <a:xfrm>
            <a:off x="7589520" y="1417320"/>
            <a:ext cx="1051560" cy="411480"/>
          </a:xfrm>
          <a:prstGeom prst="rect">
            <a:avLst/>
          </a:prstGeom>
          <a:noFill/>
          <a:ln/>
        </p:spPr>
        <p:txBody>
          <a:bodyPr wrap="square" lIns="0" tIns="0" rIns="0" bIns="0" rtlCol="0" anchor="ctr"/>
          <a:lstStyle/>
          <a:p>
            <a:pPr algn="r" indent="0" marL="0">
              <a:buNone/>
            </a:pPr>
            <a:r>
              <a:rPr lang="en-US" sz="1100" b="1" dirty="0">
                <a:solidFill>
                  <a:srgbClr val="059669"/>
                </a:solidFill>
                <a:latin typeface="Arial" pitchFamily="34" charset="0"/>
                <a:ea typeface="Arial" pitchFamily="34" charset="-122"/>
                <a:cs typeface="Arial" pitchFamily="34" charset="-120"/>
              </a:rPr>
              <a:t>+12% upside</a:t>
            </a:r>
            <a:endParaRPr lang="en-US" sz="1100" dirty="0"/>
          </a:p>
        </p:txBody>
      </p:sp>
      <p:sp>
        <p:nvSpPr>
          <p:cNvPr id="12" name="Shape 9"/>
          <p:cNvSpPr/>
          <p:nvPr/>
        </p:nvSpPr>
        <p:spPr>
          <a:xfrm>
            <a:off x="5486400" y="2468880"/>
            <a:ext cx="3291840" cy="1188720"/>
          </a:xfrm>
          <a:prstGeom prst="roundRect">
            <a:avLst>
              <a:gd name="adj" fmla="val 3846"/>
            </a:avLst>
          </a:prstGeom>
          <a:solidFill>
            <a:srgbClr val="1A2332"/>
          </a:solidFill>
          <a:ln/>
        </p:spPr>
      </p:sp>
      <p:sp>
        <p:nvSpPr>
          <p:cNvPr id="13" name="Text 10"/>
          <p:cNvSpPr/>
          <p:nvPr/>
        </p:nvSpPr>
        <p:spPr>
          <a:xfrm>
            <a:off x="5623560" y="2514600"/>
            <a:ext cx="1645920" cy="201168"/>
          </a:xfrm>
          <a:prstGeom prst="rect">
            <a:avLst/>
          </a:prstGeom>
          <a:noFill/>
          <a:ln/>
        </p:spPr>
        <p:txBody>
          <a:bodyPr wrap="square" lIns="0" tIns="0" rIns="0" bIns="0" rtlCol="0" anchor="ctr"/>
          <a:lstStyle/>
          <a:p>
            <a:pPr indent="0" marL="0">
              <a:buNone/>
            </a:pPr>
            <a:r>
              <a:rPr lang="en-US" sz="900" b="1" dirty="0">
                <a:solidFill>
                  <a:srgbClr val="10B981"/>
                </a:solidFill>
                <a:latin typeface="Arial" pitchFamily="34" charset="0"/>
                <a:ea typeface="Arial" pitchFamily="34" charset="-122"/>
                <a:cs typeface="Arial" pitchFamily="34" charset="-120"/>
              </a:rPr>
              <a:t>CATALYST CASE</a:t>
            </a:r>
            <a:endParaRPr lang="en-US" sz="900" dirty="0"/>
          </a:p>
        </p:txBody>
      </p:sp>
      <p:sp>
        <p:nvSpPr>
          <p:cNvPr id="14" name="Text 11"/>
          <p:cNvSpPr/>
          <p:nvPr/>
        </p:nvSpPr>
        <p:spPr>
          <a:xfrm>
            <a:off x="7040880" y="2514600"/>
            <a:ext cx="1600200" cy="201168"/>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Post-Investor Day</a:t>
            </a:r>
            <a:endParaRPr lang="en-US" sz="900" dirty="0"/>
          </a:p>
        </p:txBody>
      </p:sp>
      <p:sp>
        <p:nvSpPr>
          <p:cNvPr id="15" name="Text 12"/>
          <p:cNvSpPr/>
          <p:nvPr/>
        </p:nvSpPr>
        <p:spPr>
          <a:xfrm>
            <a:off x="5623560" y="2743200"/>
            <a:ext cx="1828800" cy="4114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$138</a:t>
            </a:r>
            <a:endParaRPr lang="en-US" sz="3600" dirty="0"/>
          </a:p>
        </p:txBody>
      </p:sp>
      <p:sp>
        <p:nvSpPr>
          <p:cNvPr id="16" name="Text 13"/>
          <p:cNvSpPr/>
          <p:nvPr/>
        </p:nvSpPr>
        <p:spPr>
          <a:xfrm>
            <a:off x="5623560" y="3154680"/>
            <a:ext cx="3017520" cy="1828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10x EV/ARR on ~$500M fwd ARR</a:t>
            </a:r>
            <a:endParaRPr lang="en-US" sz="1000" dirty="0"/>
          </a:p>
        </p:txBody>
      </p:sp>
      <p:sp>
        <p:nvSpPr>
          <p:cNvPr id="17" name="Text 14"/>
          <p:cNvSpPr/>
          <p:nvPr/>
        </p:nvSpPr>
        <p:spPr>
          <a:xfrm>
            <a:off x="7589520" y="2743200"/>
            <a:ext cx="1051560" cy="411480"/>
          </a:xfrm>
          <a:prstGeom prst="rect">
            <a:avLst/>
          </a:prstGeom>
          <a:noFill/>
          <a:ln/>
        </p:spPr>
        <p:txBody>
          <a:bodyPr wrap="square" lIns="0" tIns="0" rIns="0" bIns="0"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+30% upside</a:t>
            </a:r>
            <a:endParaRPr lang="en-US" sz="1100" dirty="0"/>
          </a:p>
        </p:txBody>
      </p:sp>
      <p:sp>
        <p:nvSpPr>
          <p:cNvPr id="18" name="Shape 15"/>
          <p:cNvSpPr/>
          <p:nvPr/>
        </p:nvSpPr>
        <p:spPr>
          <a:xfrm>
            <a:off x="548640" y="3794760"/>
            <a:ext cx="8229600" cy="1097280"/>
          </a:xfrm>
          <a:prstGeom prst="roundRect">
            <a:avLst>
              <a:gd name="adj" fmla="val 4167"/>
            </a:avLst>
          </a:prstGeom>
          <a:solidFill>
            <a:srgbClr val="DBEAFE"/>
          </a:solidFill>
          <a:ln/>
        </p:spPr>
      </p:sp>
      <p:sp>
        <p:nvSpPr>
          <p:cNvPr id="19" name="Text 16"/>
          <p:cNvSpPr/>
          <p:nvPr/>
        </p:nvSpPr>
        <p:spPr>
          <a:xfrm>
            <a:off x="731520" y="3840480"/>
            <a:ext cx="4572000" cy="228600"/>
          </a:xfrm>
          <a:prstGeom prst="rect">
            <a:avLst/>
          </a:prstGeom>
          <a:noFill/>
          <a:ln/>
        </p:spPr>
        <p:txBody>
          <a:bodyPr wrap="square" lIns="0" tIns="0" rIns="0" bIns="0" rtlCol="0" anchor="ctr"/>
          <a:lstStyle/>
          <a:p>
            <a:pPr indent="0" marL="0">
              <a:buNone/>
            </a:pPr>
            <a:r>
              <a:rPr lang="en-US" sz="1100" b="1" dirty="0">
                <a:solidFill>
                  <a:srgbClr val="1A2332"/>
                </a:solidFill>
                <a:latin typeface="Arial" pitchFamily="34" charset="0"/>
                <a:ea typeface="Arial" pitchFamily="34" charset="-122"/>
                <a:cs typeface="Arial" pitchFamily="34" charset="-120"/>
              </a:rPr>
              <a:t>Why 10x is the floor, not the ceiling</a:t>
            </a:r>
            <a:endParaRPr lang="en-US" sz="1100" dirty="0"/>
          </a:p>
        </p:txBody>
      </p:sp>
      <p:sp>
        <p:nvSpPr>
          <p:cNvPr id="20" name="Text 17"/>
          <p:cNvSpPr/>
          <p:nvPr/>
        </p:nvSpPr>
        <p:spPr>
          <a:xfrm>
            <a:off x="731520" y="4114800"/>
            <a:ext cx="228600" cy="182880"/>
          </a:xfrm>
          <a:prstGeom prst="rect">
            <a:avLst/>
          </a:prstGeom>
          <a:noFill/>
          <a:ln/>
        </p:spPr>
        <p:txBody>
          <a:bodyPr wrap="square" lIns="0" tIns="0" rIns="0" bIns="0" rtlCol="0" anchor="ctr"/>
          <a:lstStyle/>
          <a:p>
            <a:pPr indent="0" marL="0">
              <a:buNone/>
            </a:pPr>
            <a:r>
              <a:rPr lang="en-US" sz="900" b="1" dirty="0">
                <a:solidFill>
                  <a:srgbClr val="1A2332"/>
                </a:solidFill>
                <a:latin typeface="Arial" pitchFamily="34" charset="0"/>
                <a:ea typeface="Arial" pitchFamily="34" charset="-122"/>
                <a:cs typeface="Arial" pitchFamily="34" charset="-120"/>
              </a:rPr>
              <a:t>1.</a:t>
            </a:r>
            <a:endParaRPr lang="en-US" sz="900" dirty="0"/>
          </a:p>
        </p:txBody>
      </p:sp>
      <p:sp>
        <p:nvSpPr>
          <p:cNvPr id="21" name="Text 18"/>
          <p:cNvSpPr/>
          <p:nvPr/>
        </p:nvSpPr>
        <p:spPr>
          <a:xfrm>
            <a:off x="960120" y="4114800"/>
            <a:ext cx="7635240" cy="182880"/>
          </a:xfrm>
          <a:prstGeom prst="rect">
            <a:avLst/>
          </a:prstGeom>
          <a:noFill/>
          <a:ln/>
        </p:spPr>
        <p:txBody>
          <a:bodyPr wrap="square" lIns="0" tIns="0" rIns="0" bIns="0" rtlCol="0" anchor="ctr"/>
          <a:lstStyle/>
          <a:p>
            <a:pPr indent="0" marL="0">
              <a:buNone/>
            </a:pPr>
            <a:r>
              <a:rPr lang="en-US" sz="900" dirty="0">
                <a:solidFill>
                  <a:srgbClr val="374151"/>
                </a:solidFill>
                <a:latin typeface="Arial" pitchFamily="34" charset="0"/>
                <a:ea typeface="Arial" pitchFamily="34" charset="-122"/>
                <a:cs typeface="Arial" pitchFamily="34" charset="-120"/>
              </a:rPr>
              <a:t>Growth: 20%+ ARR growth ($306M → $417M in 18 months), accelerated by Resiliency cross-sell into 8,000 utility customers</a:t>
            </a:r>
            <a:endParaRPr lang="en-US" sz="900" dirty="0"/>
          </a:p>
        </p:txBody>
      </p:sp>
      <p:sp>
        <p:nvSpPr>
          <p:cNvPr id="22" name="Text 19"/>
          <p:cNvSpPr/>
          <p:nvPr/>
        </p:nvSpPr>
        <p:spPr>
          <a:xfrm>
            <a:off x="731520" y="4297680"/>
            <a:ext cx="228600" cy="182880"/>
          </a:xfrm>
          <a:prstGeom prst="rect">
            <a:avLst/>
          </a:prstGeom>
          <a:noFill/>
          <a:ln/>
        </p:spPr>
        <p:txBody>
          <a:bodyPr wrap="square" lIns="0" tIns="0" rIns="0" bIns="0" rtlCol="0" anchor="ctr"/>
          <a:lstStyle/>
          <a:p>
            <a:pPr indent="0" marL="0">
              <a:buNone/>
            </a:pPr>
            <a:r>
              <a:rPr lang="en-US" sz="900" b="1" dirty="0">
                <a:solidFill>
                  <a:srgbClr val="1A2332"/>
                </a:solidFill>
                <a:latin typeface="Arial" pitchFamily="34" charset="0"/>
                <a:ea typeface="Arial" pitchFamily="34" charset="-122"/>
                <a:cs typeface="Arial" pitchFamily="34" charset="-120"/>
              </a:rPr>
              <a:t>2.</a:t>
            </a:r>
            <a:endParaRPr lang="en-US" sz="900" dirty="0"/>
          </a:p>
        </p:txBody>
      </p:sp>
      <p:sp>
        <p:nvSpPr>
          <p:cNvPr id="23" name="Text 20"/>
          <p:cNvSpPr/>
          <p:nvPr/>
        </p:nvSpPr>
        <p:spPr>
          <a:xfrm>
            <a:off x="960120" y="4297680"/>
            <a:ext cx="7635240" cy="182880"/>
          </a:xfrm>
          <a:prstGeom prst="rect">
            <a:avLst/>
          </a:prstGeom>
          <a:noFill/>
          <a:ln/>
        </p:spPr>
        <p:txBody>
          <a:bodyPr wrap="square" lIns="0" tIns="0" rIns="0" bIns="0" rtlCol="0" anchor="ctr"/>
          <a:lstStyle/>
          <a:p>
            <a:pPr indent="0" marL="0">
              <a:buNone/>
            </a:pPr>
            <a:r>
              <a:rPr lang="en-US" sz="900" dirty="0">
                <a:solidFill>
                  <a:srgbClr val="374151"/>
                </a:solidFill>
                <a:latin typeface="Arial" pitchFamily="34" charset="0"/>
                <a:ea typeface="Arial" pitchFamily="34" charset="-122"/>
                <a:cs typeface="Arial" pitchFamily="34" charset="-120"/>
              </a:rPr>
              <a:t>Durability: Regulatory-mandated demand (Germany, UK, US grid modernization) — not discretionary IT budgets</a:t>
            </a:r>
            <a:endParaRPr lang="en-US" sz="900" dirty="0"/>
          </a:p>
        </p:txBody>
      </p:sp>
      <p:sp>
        <p:nvSpPr>
          <p:cNvPr id="24" name="Text 21"/>
          <p:cNvSpPr/>
          <p:nvPr/>
        </p:nvSpPr>
        <p:spPr>
          <a:xfrm>
            <a:off x="731520" y="4480560"/>
            <a:ext cx="228600" cy="182880"/>
          </a:xfrm>
          <a:prstGeom prst="rect">
            <a:avLst/>
          </a:prstGeom>
          <a:noFill/>
          <a:ln/>
        </p:spPr>
        <p:txBody>
          <a:bodyPr wrap="square" lIns="0" tIns="0" rIns="0" bIns="0" rtlCol="0" anchor="ctr"/>
          <a:lstStyle/>
          <a:p>
            <a:pPr indent="0" marL="0">
              <a:buNone/>
            </a:pPr>
            <a:r>
              <a:rPr lang="en-US" sz="900" b="1" dirty="0">
                <a:solidFill>
                  <a:srgbClr val="1A2332"/>
                </a:solidFill>
                <a:latin typeface="Arial" pitchFamily="34" charset="0"/>
                <a:ea typeface="Arial" pitchFamily="34" charset="-122"/>
                <a:cs typeface="Arial" pitchFamily="34" charset="-120"/>
              </a:rPr>
              <a:t>3.</a:t>
            </a:r>
            <a:endParaRPr lang="en-US" sz="900" dirty="0"/>
          </a:p>
        </p:txBody>
      </p:sp>
      <p:sp>
        <p:nvSpPr>
          <p:cNvPr id="25" name="Text 22"/>
          <p:cNvSpPr/>
          <p:nvPr/>
        </p:nvSpPr>
        <p:spPr>
          <a:xfrm>
            <a:off x="960120" y="4480560"/>
            <a:ext cx="7635240" cy="182880"/>
          </a:xfrm>
          <a:prstGeom prst="rect">
            <a:avLst/>
          </a:prstGeom>
          <a:noFill/>
          <a:ln/>
        </p:spPr>
        <p:txBody>
          <a:bodyPr wrap="square" lIns="0" tIns="0" rIns="0" bIns="0" rtlCol="0" anchor="ctr"/>
          <a:lstStyle/>
          <a:p>
            <a:pPr indent="0" marL="0">
              <a:buNone/>
            </a:pPr>
            <a:r>
              <a:rPr lang="en-US" sz="900" dirty="0">
                <a:solidFill>
                  <a:srgbClr val="374151"/>
                </a:solidFill>
                <a:latin typeface="Arial" pitchFamily="34" charset="0"/>
                <a:ea typeface="Arial" pitchFamily="34" charset="-122"/>
                <a:cs typeface="Arial" pitchFamily="34" charset="-120"/>
              </a:rPr>
              <a:t>Unit economics: Near-zero marginal cost per incremental DI app on installed endpoints — 17.5M capable, only 3.8M active</a:t>
            </a:r>
            <a:endParaRPr lang="en-US" sz="900" dirty="0"/>
          </a:p>
        </p:txBody>
      </p:sp>
      <p:sp>
        <p:nvSpPr>
          <p:cNvPr id="26" name="Text 23"/>
          <p:cNvSpPr/>
          <p:nvPr/>
        </p:nvSpPr>
        <p:spPr>
          <a:xfrm>
            <a:off x="731520" y="4663440"/>
            <a:ext cx="228600" cy="182880"/>
          </a:xfrm>
          <a:prstGeom prst="rect">
            <a:avLst/>
          </a:prstGeom>
          <a:noFill/>
          <a:ln/>
        </p:spPr>
        <p:txBody>
          <a:bodyPr wrap="square" lIns="0" tIns="0" rIns="0" bIns="0" rtlCol="0" anchor="ctr"/>
          <a:lstStyle/>
          <a:p>
            <a:pPr indent="0" marL="0">
              <a:buNone/>
            </a:pPr>
            <a:r>
              <a:rPr lang="en-US" sz="900" b="1" dirty="0">
                <a:solidFill>
                  <a:srgbClr val="1A2332"/>
                </a:solidFill>
                <a:latin typeface="Arial" pitchFamily="34" charset="0"/>
                <a:ea typeface="Arial" pitchFamily="34" charset="-122"/>
                <a:cs typeface="Arial" pitchFamily="34" charset="-120"/>
              </a:rPr>
              <a:t>4.</a:t>
            </a:r>
            <a:endParaRPr lang="en-US" sz="900" dirty="0"/>
          </a:p>
        </p:txBody>
      </p:sp>
      <p:sp>
        <p:nvSpPr>
          <p:cNvPr id="27" name="Text 24"/>
          <p:cNvSpPr/>
          <p:nvPr/>
        </p:nvSpPr>
        <p:spPr>
          <a:xfrm>
            <a:off x="960120" y="4663440"/>
            <a:ext cx="7635240" cy="182880"/>
          </a:xfrm>
          <a:prstGeom prst="rect">
            <a:avLst/>
          </a:prstGeom>
          <a:noFill/>
          <a:ln/>
        </p:spPr>
        <p:txBody>
          <a:bodyPr wrap="square" lIns="0" tIns="0" rIns="0" bIns="0" rtlCol="0" anchor="ctr"/>
          <a:lstStyle/>
          <a:p>
            <a:pPr indent="0" marL="0">
              <a:buNone/>
            </a:pPr>
            <a:r>
              <a:rPr lang="en-US" sz="900" dirty="0">
                <a:solidFill>
                  <a:srgbClr val="374151"/>
                </a:solidFill>
                <a:latin typeface="Arial" pitchFamily="34" charset="0"/>
                <a:ea typeface="Arial" pitchFamily="34" charset="-122"/>
                <a:cs typeface="Arial" pitchFamily="34" charset="-120"/>
              </a:rPr>
              <a:t>Catalyst: Investor Day (est. Q1 2027) introduces long-term ARR targets, forcing analyst framework rebuild from EBITDA to ARR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457200"/>
          </a:xfrm>
          <a:prstGeom prst="rect">
            <a:avLst/>
          </a:prstGeom>
          <a:noFill/>
          <a:ln/>
        </p:spPr>
        <p:txBody>
          <a:bodyPr wrap="square" lIns="0" tIns="0" rIns="0" bIns="0" rtlCol="0" anchor="ctr"/>
          <a:lstStyle/>
          <a:p>
            <a:pPr indent="0" marL="0">
              <a:buNone/>
            </a:pPr>
            <a:r>
              <a:rPr lang="en-US" sz="2800" b="1" dirty="0">
                <a:solidFill>
                  <a:srgbClr val="1A2332"/>
                </a:solidFill>
                <a:latin typeface="Arial" pitchFamily="34" charset="0"/>
                <a:ea typeface="Arial" pitchFamily="34" charset="-122"/>
                <a:cs typeface="Arial" pitchFamily="34" charset="-120"/>
              </a:rPr>
              <a:t>The Margin Structure Is Permanent</a:t>
            </a:r>
            <a:endParaRPr lang="en-US" sz="2800" dirty="0"/>
          </a:p>
        </p:txBody>
      </p:sp>
      <p:sp>
        <p:nvSpPr>
          <p:cNvPr id="3" name="Text 1"/>
          <p:cNvSpPr/>
          <p:nvPr/>
        </p:nvSpPr>
        <p:spPr>
          <a:xfrm>
            <a:off x="548640" y="822960"/>
            <a:ext cx="8046720" cy="41148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Record 41.4% adjusted gross margin on lower revenue eliminates the cyclical operating leverage explanation. This is mix shift + software unit economics.</a:t>
            </a:r>
            <a:endParaRPr lang="en-US" sz="1200" dirty="0"/>
          </a:p>
        </p:txBody>
      </p:sp>
      <p:graphicFrame>
        <p:nvGraphicFramePr>
          <p:cNvPr id="4" name="Chart 0" descr=""/>
          <p:cNvGraphicFramePr/>
          <p:nvPr/>
        </p:nvGraphicFramePr>
        <p:xfrm>
          <a:off x="365760" y="1371600"/>
          <a:ext cx="5120640" cy="2560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365760" y="4069080"/>
            <a:ext cx="5120640" cy="320040"/>
          </a:xfrm>
          <a:prstGeom prst="roundRect">
            <a:avLst>
              <a:gd name="adj" fmla="val 8571"/>
            </a:avLst>
          </a:prstGeom>
          <a:solidFill>
            <a:srgbClr val="F4F5F7"/>
          </a:solidFill>
          <a:ln/>
        </p:spPr>
      </p:sp>
      <p:sp>
        <p:nvSpPr>
          <p:cNvPr id="6" name="Text 3"/>
          <p:cNvSpPr/>
          <p:nvPr/>
        </p:nvSpPr>
        <p:spPr>
          <a:xfrm>
            <a:off x="548640" y="4069080"/>
            <a:ext cx="4754880" cy="320040"/>
          </a:xfrm>
          <a:prstGeom prst="rect">
            <a:avLst/>
          </a:prstGeom>
          <a:noFill/>
          <a:ln/>
        </p:spPr>
        <p:txBody>
          <a:bodyPr wrap="square" lIns="0" tIns="0" rIns="0" bIns="0" rtlCol="0" anchor="ctr"/>
          <a:lstStyle/>
          <a:p>
            <a:pPr indent="0" marL="0">
              <a:buNone/>
            </a:pPr>
            <a:r>
              <a:rPr lang="en-US" sz="1000" dirty="0">
                <a:solidFill>
                  <a:srgbClr val="374151"/>
                </a:solidFill>
                <a:latin typeface="Arial" pitchFamily="34" charset="0"/>
                <a:ea typeface="Arial" pitchFamily="34" charset="-122"/>
                <a:cs typeface="Arial" pitchFamily="34" charset="-120"/>
              </a:rPr>
              <a:t>2024 Investor Day 2027 target: 36-38% GM, 15-17% EBITDA margin, 10-12% FCF margin. All exceeded.</a:t>
            </a:r>
            <a:endParaRPr lang="en-US" sz="1000" dirty="0"/>
          </a:p>
        </p:txBody>
      </p:sp>
      <p:sp>
        <p:nvSpPr>
          <p:cNvPr id="7" name="Shape 4"/>
          <p:cNvSpPr/>
          <p:nvPr/>
        </p:nvSpPr>
        <p:spPr>
          <a:xfrm>
            <a:off x="5669280" y="1371600"/>
            <a:ext cx="3108960" cy="640080"/>
          </a:xfrm>
          <a:prstGeom prst="roundRect">
            <a:avLst>
              <a:gd name="adj" fmla="val 7143"/>
            </a:avLst>
          </a:prstGeom>
          <a:solidFill>
            <a:srgbClr val="F4F5F7"/>
          </a:solidFill>
          <a:ln/>
        </p:spPr>
      </p:sp>
      <p:sp>
        <p:nvSpPr>
          <p:cNvPr id="8" name="Shape 5"/>
          <p:cNvSpPr/>
          <p:nvPr/>
        </p:nvSpPr>
        <p:spPr>
          <a:xfrm>
            <a:off x="5806440" y="1572768"/>
            <a:ext cx="201168" cy="201168"/>
          </a:xfrm>
          <a:prstGeom prst="ellipse">
            <a:avLst/>
          </a:prstGeom>
          <a:solidFill>
            <a:srgbClr val="2563EB"/>
          </a:solidFill>
          <a:ln/>
        </p:spPr>
      </p:sp>
      <p:sp>
        <p:nvSpPr>
          <p:cNvPr id="9" name="Text 6"/>
          <p:cNvSpPr/>
          <p:nvPr/>
        </p:nvSpPr>
        <p:spPr>
          <a:xfrm>
            <a:off x="6080760" y="1417320"/>
            <a:ext cx="1645920" cy="228600"/>
          </a:xfrm>
          <a:prstGeom prst="rect">
            <a:avLst/>
          </a:prstGeom>
          <a:noFill/>
          <a:ln/>
        </p:spPr>
        <p:txBody>
          <a:bodyPr wrap="square" lIns="0" tIns="0" rIns="0" bIns="0" rtlCol="0" anchor="ctr"/>
          <a:lstStyle/>
          <a:p>
            <a:pPr indent="0" marL="0">
              <a:buNone/>
            </a:pPr>
            <a:r>
              <a:rPr lang="en-US" sz="1100" b="1" dirty="0">
                <a:solidFill>
                  <a:srgbClr val="374151"/>
                </a:solidFill>
                <a:latin typeface="Arial" pitchFamily="34" charset="0"/>
                <a:ea typeface="Arial" pitchFamily="34" charset="-122"/>
                <a:cs typeface="Arial" pitchFamily="34" charset="-120"/>
              </a:rPr>
              <a:t>Device Solutions</a:t>
            </a:r>
            <a:endParaRPr lang="en-US" sz="1100" dirty="0"/>
          </a:p>
        </p:txBody>
      </p:sp>
      <p:sp>
        <p:nvSpPr>
          <p:cNvPr id="10" name="Text 7"/>
          <p:cNvSpPr/>
          <p:nvPr/>
        </p:nvSpPr>
        <p:spPr>
          <a:xfrm>
            <a:off x="7589520" y="1417320"/>
            <a:ext cx="1005840" cy="228600"/>
          </a:xfrm>
          <a:prstGeom prst="rect">
            <a:avLst/>
          </a:prstGeom>
          <a:noFill/>
          <a:ln/>
        </p:spPr>
        <p:txBody>
          <a:bodyPr wrap="square" lIns="0" tIns="0" rIns="0" bIns="0" rtlCol="0" anchor="ctr"/>
          <a:lstStyle/>
          <a:p>
            <a:pPr algn="r" indent="0" marL="0">
              <a:buNone/>
            </a:pPr>
            <a:r>
              <a:rPr lang="en-US" sz="1800" b="1" dirty="0">
                <a:solidFill>
                  <a:srgbClr val="1A2332"/>
                </a:solidFill>
                <a:latin typeface="Arial" pitchFamily="34" charset="0"/>
                <a:ea typeface="Arial" pitchFamily="34" charset="-122"/>
                <a:cs typeface="Arial" pitchFamily="34" charset="-120"/>
              </a:rPr>
              <a:t>34.8%</a:t>
            </a:r>
            <a:endParaRPr lang="en-US" sz="1800" dirty="0"/>
          </a:p>
        </p:txBody>
      </p:sp>
      <p:sp>
        <p:nvSpPr>
          <p:cNvPr id="11" name="Text 8"/>
          <p:cNvSpPr/>
          <p:nvPr/>
        </p:nvSpPr>
        <p:spPr>
          <a:xfrm>
            <a:off x="6080760" y="1691640"/>
            <a:ext cx="2743200" cy="201168"/>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Q2'26 adj. GM</a:t>
            </a:r>
            <a:endParaRPr lang="en-US" sz="900" dirty="0"/>
          </a:p>
        </p:txBody>
      </p:sp>
      <p:sp>
        <p:nvSpPr>
          <p:cNvPr id="12" name="Shape 9"/>
          <p:cNvSpPr/>
          <p:nvPr/>
        </p:nvSpPr>
        <p:spPr>
          <a:xfrm>
            <a:off x="5669280" y="2121408"/>
            <a:ext cx="3108960" cy="640080"/>
          </a:xfrm>
          <a:prstGeom prst="roundRect">
            <a:avLst>
              <a:gd name="adj" fmla="val 7143"/>
            </a:avLst>
          </a:prstGeom>
          <a:solidFill>
            <a:srgbClr val="F4F5F7"/>
          </a:solidFill>
          <a:ln/>
        </p:spPr>
      </p:sp>
      <p:sp>
        <p:nvSpPr>
          <p:cNvPr id="13" name="Shape 10"/>
          <p:cNvSpPr/>
          <p:nvPr/>
        </p:nvSpPr>
        <p:spPr>
          <a:xfrm>
            <a:off x="5806440" y="2322576"/>
            <a:ext cx="201168" cy="201168"/>
          </a:xfrm>
          <a:prstGeom prst="ellipse">
            <a:avLst/>
          </a:prstGeom>
          <a:solidFill>
            <a:srgbClr val="2563EB"/>
          </a:solidFill>
          <a:ln/>
        </p:spPr>
      </p:sp>
      <p:sp>
        <p:nvSpPr>
          <p:cNvPr id="14" name="Text 11"/>
          <p:cNvSpPr/>
          <p:nvPr/>
        </p:nvSpPr>
        <p:spPr>
          <a:xfrm>
            <a:off x="6080760" y="2167128"/>
            <a:ext cx="1645920" cy="228600"/>
          </a:xfrm>
          <a:prstGeom prst="rect">
            <a:avLst/>
          </a:prstGeom>
          <a:noFill/>
          <a:ln/>
        </p:spPr>
        <p:txBody>
          <a:bodyPr wrap="square" lIns="0" tIns="0" rIns="0" bIns="0" rtlCol="0" anchor="ctr"/>
          <a:lstStyle/>
          <a:p>
            <a:pPr indent="0" marL="0">
              <a:buNone/>
            </a:pPr>
            <a:r>
              <a:rPr lang="en-US" sz="1100" b="1" dirty="0">
                <a:solidFill>
                  <a:srgbClr val="374151"/>
                </a:solidFill>
                <a:latin typeface="Arial" pitchFamily="34" charset="0"/>
                <a:ea typeface="Arial" pitchFamily="34" charset="-122"/>
                <a:cs typeface="Arial" pitchFamily="34" charset="-120"/>
              </a:rPr>
              <a:t>Networked Solutions</a:t>
            </a:r>
            <a:endParaRPr lang="en-US" sz="1100" dirty="0"/>
          </a:p>
        </p:txBody>
      </p:sp>
      <p:sp>
        <p:nvSpPr>
          <p:cNvPr id="15" name="Text 12"/>
          <p:cNvSpPr/>
          <p:nvPr/>
        </p:nvSpPr>
        <p:spPr>
          <a:xfrm>
            <a:off x="7589520" y="2167128"/>
            <a:ext cx="1005840" cy="228600"/>
          </a:xfrm>
          <a:prstGeom prst="rect">
            <a:avLst/>
          </a:prstGeom>
          <a:noFill/>
          <a:ln/>
        </p:spPr>
        <p:txBody>
          <a:bodyPr wrap="square" lIns="0" tIns="0" rIns="0" bIns="0" rtlCol="0" anchor="ctr"/>
          <a:lstStyle/>
          <a:p>
            <a:pPr algn="r" indent="0" marL="0">
              <a:buNone/>
            </a:pPr>
            <a:r>
              <a:rPr lang="en-US" sz="1800" b="1" dirty="0">
                <a:solidFill>
                  <a:srgbClr val="1A2332"/>
                </a:solidFill>
                <a:latin typeface="Arial" pitchFamily="34" charset="0"/>
                <a:ea typeface="Arial" pitchFamily="34" charset="-122"/>
                <a:cs typeface="Arial" pitchFamily="34" charset="-120"/>
              </a:rPr>
              <a:t>42.8%</a:t>
            </a:r>
            <a:endParaRPr lang="en-US" sz="1800" dirty="0"/>
          </a:p>
        </p:txBody>
      </p:sp>
      <p:sp>
        <p:nvSpPr>
          <p:cNvPr id="16" name="Text 13"/>
          <p:cNvSpPr/>
          <p:nvPr/>
        </p:nvSpPr>
        <p:spPr>
          <a:xfrm>
            <a:off x="6080760" y="2441448"/>
            <a:ext cx="2743200" cy="201168"/>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Q2'26 adj. GM</a:t>
            </a:r>
            <a:endParaRPr lang="en-US" sz="900" dirty="0"/>
          </a:p>
        </p:txBody>
      </p:sp>
      <p:sp>
        <p:nvSpPr>
          <p:cNvPr id="17" name="Shape 14"/>
          <p:cNvSpPr/>
          <p:nvPr/>
        </p:nvSpPr>
        <p:spPr>
          <a:xfrm>
            <a:off x="5669280" y="2871216"/>
            <a:ext cx="3108960" cy="640080"/>
          </a:xfrm>
          <a:prstGeom prst="roundRect">
            <a:avLst>
              <a:gd name="adj" fmla="val 7143"/>
            </a:avLst>
          </a:prstGeom>
          <a:solidFill>
            <a:srgbClr val="F4F5F7"/>
          </a:solidFill>
          <a:ln/>
        </p:spPr>
      </p:sp>
      <p:sp>
        <p:nvSpPr>
          <p:cNvPr id="18" name="Shape 15"/>
          <p:cNvSpPr/>
          <p:nvPr/>
        </p:nvSpPr>
        <p:spPr>
          <a:xfrm>
            <a:off x="5806440" y="3072384"/>
            <a:ext cx="201168" cy="201168"/>
          </a:xfrm>
          <a:prstGeom prst="ellipse">
            <a:avLst/>
          </a:prstGeom>
          <a:solidFill>
            <a:srgbClr val="059669"/>
          </a:solidFill>
          <a:ln/>
        </p:spPr>
      </p:sp>
      <p:sp>
        <p:nvSpPr>
          <p:cNvPr id="19" name="Text 16"/>
          <p:cNvSpPr/>
          <p:nvPr/>
        </p:nvSpPr>
        <p:spPr>
          <a:xfrm>
            <a:off x="6080760" y="2916936"/>
            <a:ext cx="1645920" cy="228600"/>
          </a:xfrm>
          <a:prstGeom prst="rect">
            <a:avLst/>
          </a:prstGeom>
          <a:noFill/>
          <a:ln/>
        </p:spPr>
        <p:txBody>
          <a:bodyPr wrap="square" lIns="0" tIns="0" rIns="0" bIns="0" rtlCol="0" anchor="ctr"/>
          <a:lstStyle/>
          <a:p>
            <a:pPr indent="0" marL="0">
              <a:buNone/>
            </a:pPr>
            <a:r>
              <a:rPr lang="en-US" sz="1100" b="1" dirty="0">
                <a:solidFill>
                  <a:srgbClr val="374151"/>
                </a:solidFill>
                <a:latin typeface="Arial" pitchFamily="34" charset="0"/>
                <a:ea typeface="Arial" pitchFamily="34" charset="-122"/>
                <a:cs typeface="Arial" pitchFamily="34" charset="-120"/>
              </a:rPr>
              <a:t>Outcomes</a:t>
            </a:r>
            <a:endParaRPr lang="en-US" sz="1100" dirty="0"/>
          </a:p>
        </p:txBody>
      </p:sp>
      <p:sp>
        <p:nvSpPr>
          <p:cNvPr id="20" name="Text 17"/>
          <p:cNvSpPr/>
          <p:nvPr/>
        </p:nvSpPr>
        <p:spPr>
          <a:xfrm>
            <a:off x="7589520" y="2916936"/>
            <a:ext cx="1005840" cy="228600"/>
          </a:xfrm>
          <a:prstGeom prst="rect">
            <a:avLst/>
          </a:prstGeom>
          <a:noFill/>
          <a:ln/>
        </p:spPr>
        <p:txBody>
          <a:bodyPr wrap="square" lIns="0" tIns="0" rIns="0" bIns="0" rtlCol="0" anchor="ctr"/>
          <a:lstStyle/>
          <a:p>
            <a:pPr algn="r" indent="0" marL="0">
              <a:buNone/>
            </a:pPr>
            <a:r>
              <a:rPr lang="en-US" sz="1800" b="1" dirty="0">
                <a:solidFill>
                  <a:srgbClr val="1A2332"/>
                </a:solidFill>
                <a:latin typeface="Arial" pitchFamily="34" charset="0"/>
                <a:ea typeface="Arial" pitchFamily="34" charset="-122"/>
                <a:cs typeface="Arial" pitchFamily="34" charset="-120"/>
              </a:rPr>
              <a:t>38.8%</a:t>
            </a:r>
            <a:endParaRPr lang="en-US" sz="1800" dirty="0"/>
          </a:p>
        </p:txBody>
      </p:sp>
      <p:sp>
        <p:nvSpPr>
          <p:cNvPr id="21" name="Text 18"/>
          <p:cNvSpPr/>
          <p:nvPr/>
        </p:nvSpPr>
        <p:spPr>
          <a:xfrm>
            <a:off x="6080760" y="3191256"/>
            <a:ext cx="2743200" cy="201168"/>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Q2'26 adj. GM</a:t>
            </a:r>
            <a:endParaRPr lang="en-US" sz="900" dirty="0"/>
          </a:p>
        </p:txBody>
      </p:sp>
      <p:sp>
        <p:nvSpPr>
          <p:cNvPr id="22" name="Shape 19"/>
          <p:cNvSpPr/>
          <p:nvPr/>
        </p:nvSpPr>
        <p:spPr>
          <a:xfrm>
            <a:off x="5669280" y="3621024"/>
            <a:ext cx="3108960" cy="640080"/>
          </a:xfrm>
          <a:prstGeom prst="roundRect">
            <a:avLst>
              <a:gd name="adj" fmla="val 7143"/>
            </a:avLst>
          </a:prstGeom>
          <a:solidFill>
            <a:srgbClr val="F4F5F7"/>
          </a:solidFill>
          <a:ln/>
        </p:spPr>
      </p:sp>
      <p:sp>
        <p:nvSpPr>
          <p:cNvPr id="23" name="Shape 20"/>
          <p:cNvSpPr/>
          <p:nvPr/>
        </p:nvSpPr>
        <p:spPr>
          <a:xfrm>
            <a:off x="5806440" y="3822192"/>
            <a:ext cx="201168" cy="201168"/>
          </a:xfrm>
          <a:prstGeom prst="ellipse">
            <a:avLst/>
          </a:prstGeom>
          <a:solidFill>
            <a:srgbClr val="10B981"/>
          </a:solidFill>
          <a:ln/>
        </p:spPr>
      </p:sp>
      <p:sp>
        <p:nvSpPr>
          <p:cNvPr id="24" name="Text 21"/>
          <p:cNvSpPr/>
          <p:nvPr/>
        </p:nvSpPr>
        <p:spPr>
          <a:xfrm>
            <a:off x="6080760" y="3666744"/>
            <a:ext cx="1645920" cy="228600"/>
          </a:xfrm>
          <a:prstGeom prst="rect">
            <a:avLst/>
          </a:prstGeom>
          <a:noFill/>
          <a:ln/>
        </p:spPr>
        <p:txBody>
          <a:bodyPr wrap="square" lIns="0" tIns="0" rIns="0" bIns="0" rtlCol="0" anchor="ctr"/>
          <a:lstStyle/>
          <a:p>
            <a:pPr indent="0" marL="0">
              <a:buNone/>
            </a:pPr>
            <a:r>
              <a:rPr lang="en-US" sz="1100" b="1" dirty="0">
                <a:solidFill>
                  <a:srgbClr val="374151"/>
                </a:solidFill>
                <a:latin typeface="Arial" pitchFamily="34" charset="0"/>
                <a:ea typeface="Arial" pitchFamily="34" charset="-122"/>
                <a:cs typeface="Arial" pitchFamily="34" charset="-120"/>
              </a:rPr>
              <a:t>Resiliency Solutions</a:t>
            </a:r>
            <a:endParaRPr lang="en-US" sz="1100" dirty="0"/>
          </a:p>
        </p:txBody>
      </p:sp>
      <p:sp>
        <p:nvSpPr>
          <p:cNvPr id="25" name="Text 22"/>
          <p:cNvSpPr/>
          <p:nvPr/>
        </p:nvSpPr>
        <p:spPr>
          <a:xfrm>
            <a:off x="7589520" y="3666744"/>
            <a:ext cx="1005840" cy="228600"/>
          </a:xfrm>
          <a:prstGeom prst="rect">
            <a:avLst/>
          </a:prstGeom>
          <a:noFill/>
          <a:ln/>
        </p:spPr>
        <p:txBody>
          <a:bodyPr wrap="square" lIns="0" tIns="0" rIns="0" bIns="0" rtlCol="0" anchor="ctr"/>
          <a:lstStyle/>
          <a:p>
            <a:pPr algn="r" indent="0" marL="0">
              <a:buNone/>
            </a:pPr>
            <a:r>
              <a:rPr lang="en-US" sz="1800" b="1" dirty="0">
                <a:solidFill>
                  <a:srgbClr val="1A2332"/>
                </a:solidFill>
                <a:latin typeface="Arial" pitchFamily="34" charset="0"/>
                <a:ea typeface="Arial" pitchFamily="34" charset="-122"/>
                <a:cs typeface="Arial" pitchFamily="34" charset="-120"/>
              </a:rPr>
              <a:t>75.3%</a:t>
            </a:r>
            <a:endParaRPr lang="en-US" sz="1800" dirty="0"/>
          </a:p>
        </p:txBody>
      </p:sp>
      <p:sp>
        <p:nvSpPr>
          <p:cNvPr id="26" name="Text 23"/>
          <p:cNvSpPr/>
          <p:nvPr/>
        </p:nvSpPr>
        <p:spPr>
          <a:xfrm>
            <a:off x="6080760" y="3941064"/>
            <a:ext cx="2743200" cy="201168"/>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3 consecutive qtrs at 70-75%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457200"/>
          </a:xfrm>
          <a:prstGeom prst="rect">
            <a:avLst/>
          </a:prstGeom>
          <a:noFill/>
          <a:ln/>
        </p:spPr>
        <p:txBody>
          <a:bodyPr wrap="square" lIns="0" tIns="0" rIns="0" bIns="0" rtlCol="0" anchor="ctr"/>
          <a:lstStyle/>
          <a:p>
            <a:pPr indent="0" marL="0">
              <a:buNone/>
            </a:pPr>
            <a:r>
              <a:rPr lang="en-US" sz="2800" b="1" dirty="0">
                <a:solidFill>
                  <a:srgbClr val="1A2332"/>
                </a:solidFill>
                <a:latin typeface="Arial" pitchFamily="34" charset="0"/>
                <a:ea typeface="Arial" pitchFamily="34" charset="-122"/>
                <a:cs typeface="Arial" pitchFamily="34" charset="-120"/>
              </a:rPr>
              <a:t>Installed Base &amp; Recurring Revenue</a:t>
            </a:r>
            <a:endParaRPr lang="en-US" sz="2800" dirty="0"/>
          </a:p>
        </p:txBody>
      </p:sp>
      <p:sp>
        <p:nvSpPr>
          <p:cNvPr id="3" name="Text 1"/>
          <p:cNvSpPr/>
          <p:nvPr/>
        </p:nvSpPr>
        <p:spPr>
          <a:xfrm>
            <a:off x="548640" y="914400"/>
            <a:ext cx="3840480" cy="274320"/>
          </a:xfrm>
          <a:prstGeom prst="rect">
            <a:avLst/>
          </a:prstGeom>
          <a:noFill/>
          <a:ln/>
        </p:spPr>
        <p:txBody>
          <a:bodyPr wrap="square" lIns="0" tIns="0" rIns="0" bIns="0" rtlCol="0" anchor="ctr"/>
          <a:lstStyle/>
          <a:p>
            <a:pPr indent="0" marL="0">
              <a:buNone/>
            </a:pPr>
            <a:r>
              <a:rPr lang="en-US" sz="1400" b="1" dirty="0">
                <a:solidFill>
                  <a:srgbClr val="374151"/>
                </a:solidFill>
                <a:latin typeface="Arial" pitchFamily="34" charset="0"/>
                <a:ea typeface="Arial" pitchFamily="34" charset="-122"/>
                <a:cs typeface="Arial" pitchFamily="34" charset="-120"/>
              </a:rPr>
              <a:t>ARR Trajectory</a:t>
            </a:r>
            <a:endParaRPr lang="en-US" sz="1400" dirty="0"/>
          </a:p>
        </p:txBody>
      </p:sp>
      <p:graphicFrame>
        <p:nvGraphicFramePr>
          <p:cNvPr id="4" name="Chart 0" descr=""/>
          <p:cNvGraphicFramePr/>
          <p:nvPr/>
        </p:nvGraphicFramePr>
        <p:xfrm>
          <a:off x="548640" y="1234440"/>
          <a:ext cx="4114800" cy="2011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3246120"/>
            <a:ext cx="4114800" cy="228600"/>
          </a:xfrm>
          <a:prstGeom prst="rect">
            <a:avLst/>
          </a:prstGeom>
          <a:noFill/>
          <a:ln/>
        </p:spPr>
        <p:txBody>
          <a:bodyPr wrap="square" lIns="0" tIns="0" rIns="0" bIns="0" rtlCol="0" anchor="ctr"/>
          <a:lstStyle/>
          <a:p>
            <a:pPr indent="0" marL="0">
              <a:buNone/>
            </a:pPr>
            <a:r>
              <a:rPr lang="en-US" sz="1000" dirty="0">
                <a:solidFill>
                  <a:srgbClr val="059669"/>
                </a:solidFill>
                <a:latin typeface="Arial" pitchFamily="34" charset="0"/>
                <a:ea typeface="Arial" pitchFamily="34" charset="-122"/>
                <a:cs typeface="Arial" pitchFamily="34" charset="-120"/>
              </a:rPr>
              <a:t>YoY:          +3%           +20%          +28%          +21%</a:t>
            </a:r>
            <a:endParaRPr lang="en-US" sz="1000" dirty="0"/>
          </a:p>
        </p:txBody>
      </p:sp>
      <p:sp>
        <p:nvSpPr>
          <p:cNvPr id="6" name="Text 3"/>
          <p:cNvSpPr/>
          <p:nvPr/>
        </p:nvSpPr>
        <p:spPr>
          <a:xfrm>
            <a:off x="5120640" y="914400"/>
            <a:ext cx="3657600" cy="274320"/>
          </a:xfrm>
          <a:prstGeom prst="rect">
            <a:avLst/>
          </a:prstGeom>
          <a:noFill/>
          <a:ln/>
        </p:spPr>
        <p:txBody>
          <a:bodyPr wrap="square" lIns="0" tIns="0" rIns="0" bIns="0" rtlCol="0" anchor="ctr"/>
          <a:lstStyle/>
          <a:p>
            <a:pPr indent="0" marL="0">
              <a:buNone/>
            </a:pPr>
            <a:r>
              <a:rPr lang="en-US" sz="1400" b="1" dirty="0">
                <a:solidFill>
                  <a:srgbClr val="374151"/>
                </a:solidFill>
                <a:latin typeface="Arial" pitchFamily="34" charset="0"/>
                <a:ea typeface="Arial" pitchFamily="34" charset="-122"/>
                <a:cs typeface="Arial" pitchFamily="34" charset="-120"/>
              </a:rPr>
              <a:t>The Coiled Spring</a:t>
            </a:r>
            <a:endParaRPr lang="en-US" sz="1400" dirty="0"/>
          </a:p>
        </p:txBody>
      </p:sp>
      <p:sp>
        <p:nvSpPr>
          <p:cNvPr id="7" name="Shape 4"/>
          <p:cNvSpPr/>
          <p:nvPr/>
        </p:nvSpPr>
        <p:spPr>
          <a:xfrm>
            <a:off x="5120640" y="1325880"/>
            <a:ext cx="3657600" cy="411480"/>
          </a:xfrm>
          <a:prstGeom prst="roundRect">
            <a:avLst>
              <a:gd name="adj" fmla="val 6667"/>
            </a:avLst>
          </a:prstGeom>
          <a:solidFill>
            <a:srgbClr val="F4F5F7"/>
          </a:solidFill>
          <a:ln/>
        </p:spPr>
      </p:sp>
      <p:sp>
        <p:nvSpPr>
          <p:cNvPr id="8" name="Text 5"/>
          <p:cNvSpPr/>
          <p:nvPr/>
        </p:nvSpPr>
        <p:spPr>
          <a:xfrm>
            <a:off x="5257800" y="1344168"/>
            <a:ext cx="1188720" cy="365760"/>
          </a:xfrm>
          <a:prstGeom prst="rect">
            <a:avLst/>
          </a:prstGeom>
          <a:noFill/>
          <a:ln/>
        </p:spPr>
        <p:txBody>
          <a:bodyPr wrap="square" lIns="0" tIns="0" rIns="0" bIns="0" rtlCol="0" anchor="ctr"/>
          <a:lstStyle/>
          <a:p>
            <a:pPr indent="0" marL="0">
              <a:buNone/>
            </a:pPr>
            <a:r>
              <a:rPr lang="en-US" sz="1600" b="1" dirty="0">
                <a:solidFill>
                  <a:srgbClr val="1A2332"/>
                </a:solidFill>
                <a:latin typeface="Arial" pitchFamily="34" charset="0"/>
                <a:ea typeface="Arial" pitchFamily="34" charset="-122"/>
                <a:cs typeface="Arial" pitchFamily="34" charset="-120"/>
              </a:rPr>
              <a:t>17.5M+</a:t>
            </a:r>
            <a:endParaRPr lang="en-US" sz="1600" dirty="0"/>
          </a:p>
        </p:txBody>
      </p:sp>
      <p:sp>
        <p:nvSpPr>
          <p:cNvPr id="9" name="Text 6"/>
          <p:cNvSpPr/>
          <p:nvPr/>
        </p:nvSpPr>
        <p:spPr>
          <a:xfrm>
            <a:off x="6492240" y="1344168"/>
            <a:ext cx="21945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DI-capable endpoints shipped</a:t>
            </a:r>
            <a:endParaRPr lang="en-US" sz="1100" dirty="0"/>
          </a:p>
        </p:txBody>
      </p:sp>
      <p:sp>
        <p:nvSpPr>
          <p:cNvPr id="10" name="Shape 7"/>
          <p:cNvSpPr/>
          <p:nvPr/>
        </p:nvSpPr>
        <p:spPr>
          <a:xfrm>
            <a:off x="5120640" y="1828800"/>
            <a:ext cx="3657600" cy="411480"/>
          </a:xfrm>
          <a:prstGeom prst="roundRect">
            <a:avLst>
              <a:gd name="adj" fmla="val 6667"/>
            </a:avLst>
          </a:prstGeom>
          <a:solidFill>
            <a:srgbClr val="FFFFFF"/>
          </a:solidFill>
          <a:ln/>
        </p:spPr>
      </p:sp>
      <p:sp>
        <p:nvSpPr>
          <p:cNvPr id="11" name="Text 8"/>
          <p:cNvSpPr/>
          <p:nvPr/>
        </p:nvSpPr>
        <p:spPr>
          <a:xfrm>
            <a:off x="5257800" y="1847088"/>
            <a:ext cx="1188720" cy="365760"/>
          </a:xfrm>
          <a:prstGeom prst="rect">
            <a:avLst/>
          </a:prstGeom>
          <a:noFill/>
          <a:ln/>
        </p:spPr>
        <p:txBody>
          <a:bodyPr wrap="square" lIns="0" tIns="0" rIns="0" bIns="0" rtlCol="0" anchor="ctr"/>
          <a:lstStyle/>
          <a:p>
            <a:pPr indent="0" marL="0">
              <a:buNone/>
            </a:pPr>
            <a:r>
              <a:rPr lang="en-US" sz="1600" b="1" dirty="0">
                <a:solidFill>
                  <a:srgbClr val="1A2332"/>
                </a:solidFill>
                <a:latin typeface="Arial" pitchFamily="34" charset="0"/>
                <a:ea typeface="Arial" pitchFamily="34" charset="-122"/>
                <a:cs typeface="Arial" pitchFamily="34" charset="-120"/>
              </a:rPr>
              <a:t>~28M</a:t>
            </a:r>
            <a:endParaRPr lang="en-US" sz="1600" dirty="0"/>
          </a:p>
        </p:txBody>
      </p:sp>
      <p:sp>
        <p:nvSpPr>
          <p:cNvPr id="12" name="Text 9"/>
          <p:cNvSpPr/>
          <p:nvPr/>
        </p:nvSpPr>
        <p:spPr>
          <a:xfrm>
            <a:off x="6492240" y="1847088"/>
            <a:ext cx="21945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Licensed DI apps (up 50%+ YoY)</a:t>
            </a:r>
            <a:endParaRPr lang="en-US" sz="1100" dirty="0"/>
          </a:p>
        </p:txBody>
      </p:sp>
      <p:sp>
        <p:nvSpPr>
          <p:cNvPr id="13" name="Shape 10"/>
          <p:cNvSpPr/>
          <p:nvPr/>
        </p:nvSpPr>
        <p:spPr>
          <a:xfrm>
            <a:off x="5120640" y="2331720"/>
            <a:ext cx="3657600" cy="411480"/>
          </a:xfrm>
          <a:prstGeom prst="roundRect">
            <a:avLst>
              <a:gd name="adj" fmla="val 6667"/>
            </a:avLst>
          </a:prstGeom>
          <a:solidFill>
            <a:srgbClr val="F4F5F7"/>
          </a:solidFill>
          <a:ln/>
        </p:spPr>
      </p:sp>
      <p:sp>
        <p:nvSpPr>
          <p:cNvPr id="14" name="Text 11"/>
          <p:cNvSpPr/>
          <p:nvPr/>
        </p:nvSpPr>
        <p:spPr>
          <a:xfrm>
            <a:off x="5257800" y="2350008"/>
            <a:ext cx="1188720" cy="365760"/>
          </a:xfrm>
          <a:prstGeom prst="rect">
            <a:avLst/>
          </a:prstGeom>
          <a:noFill/>
          <a:ln/>
        </p:spPr>
        <p:txBody>
          <a:bodyPr wrap="square" lIns="0" tIns="0" rIns="0" bIns="0" rtlCol="0" anchor="ctr"/>
          <a:lstStyle/>
          <a:p>
            <a:pPr indent="0" marL="0">
              <a:buNone/>
            </a:pPr>
            <a:r>
              <a:rPr lang="en-US" sz="1600" b="1" dirty="0">
                <a:solidFill>
                  <a:srgbClr val="1A2332"/>
                </a:solidFill>
                <a:latin typeface="Arial" pitchFamily="34" charset="0"/>
                <a:ea typeface="Arial" pitchFamily="34" charset="-122"/>
                <a:cs typeface="Arial" pitchFamily="34" charset="-120"/>
              </a:rPr>
              <a:t>3.8M</a:t>
            </a:r>
            <a:endParaRPr lang="en-US" sz="1600" dirty="0"/>
          </a:p>
        </p:txBody>
      </p:sp>
      <p:sp>
        <p:nvSpPr>
          <p:cNvPr id="15" name="Text 12"/>
          <p:cNvSpPr/>
          <p:nvPr/>
        </p:nvSpPr>
        <p:spPr>
          <a:xfrm>
            <a:off x="6492240" y="2350008"/>
            <a:ext cx="21945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Endpoints actively running apps (~1 in 5)</a:t>
            </a:r>
            <a:endParaRPr lang="en-US" sz="1100" dirty="0"/>
          </a:p>
        </p:txBody>
      </p:sp>
      <p:sp>
        <p:nvSpPr>
          <p:cNvPr id="16" name="Shape 13"/>
          <p:cNvSpPr/>
          <p:nvPr/>
        </p:nvSpPr>
        <p:spPr>
          <a:xfrm>
            <a:off x="5120640" y="2834640"/>
            <a:ext cx="3657600" cy="411480"/>
          </a:xfrm>
          <a:prstGeom prst="roundRect">
            <a:avLst>
              <a:gd name="adj" fmla="val 6667"/>
            </a:avLst>
          </a:prstGeom>
          <a:solidFill>
            <a:srgbClr val="FFFFFF"/>
          </a:solidFill>
          <a:ln/>
        </p:spPr>
      </p:sp>
      <p:sp>
        <p:nvSpPr>
          <p:cNvPr id="17" name="Text 14"/>
          <p:cNvSpPr/>
          <p:nvPr/>
        </p:nvSpPr>
        <p:spPr>
          <a:xfrm>
            <a:off x="5257800" y="2852928"/>
            <a:ext cx="1188720" cy="365760"/>
          </a:xfrm>
          <a:prstGeom prst="rect">
            <a:avLst/>
          </a:prstGeom>
          <a:noFill/>
          <a:ln/>
        </p:spPr>
        <p:txBody>
          <a:bodyPr wrap="square" lIns="0" tIns="0" rIns="0" bIns="0" rtlCol="0" anchor="ctr"/>
          <a:lstStyle/>
          <a:p>
            <a:pPr indent="0" marL="0">
              <a:buNone/>
            </a:pPr>
            <a:r>
              <a:rPr lang="en-US" sz="1600" b="1" dirty="0">
                <a:solidFill>
                  <a:srgbClr val="1A2332"/>
                </a:solidFill>
                <a:latin typeface="Arial" pitchFamily="34" charset="0"/>
                <a:ea typeface="Arial" pitchFamily="34" charset="-122"/>
                <a:cs typeface="Arial" pitchFamily="34" charset="-120"/>
              </a:rPr>
              <a:t>5 apps</a:t>
            </a:r>
            <a:endParaRPr lang="en-US" sz="1600" dirty="0"/>
          </a:p>
        </p:txBody>
      </p:sp>
      <p:sp>
        <p:nvSpPr>
          <p:cNvPr id="18" name="Text 15"/>
          <p:cNvSpPr/>
          <p:nvPr/>
        </p:nvSpPr>
        <p:spPr>
          <a:xfrm>
            <a:off x="6492240" y="2852928"/>
            <a:ext cx="21945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Per endpoint at Tampa Electric (proof of concept)</a:t>
            </a:r>
            <a:endParaRPr lang="en-US" sz="1100" dirty="0"/>
          </a:p>
        </p:txBody>
      </p:sp>
      <p:sp>
        <p:nvSpPr>
          <p:cNvPr id="19" name="Shape 16"/>
          <p:cNvSpPr/>
          <p:nvPr/>
        </p:nvSpPr>
        <p:spPr>
          <a:xfrm>
            <a:off x="5120640" y="3337560"/>
            <a:ext cx="3657600" cy="411480"/>
          </a:xfrm>
          <a:prstGeom prst="roundRect">
            <a:avLst>
              <a:gd name="adj" fmla="val 6667"/>
            </a:avLst>
          </a:prstGeom>
          <a:solidFill>
            <a:srgbClr val="F4F5F7"/>
          </a:solidFill>
          <a:ln/>
        </p:spPr>
      </p:sp>
      <p:sp>
        <p:nvSpPr>
          <p:cNvPr id="20" name="Text 17"/>
          <p:cNvSpPr/>
          <p:nvPr/>
        </p:nvSpPr>
        <p:spPr>
          <a:xfrm>
            <a:off x="5257800" y="3355848"/>
            <a:ext cx="1188720" cy="365760"/>
          </a:xfrm>
          <a:prstGeom prst="rect">
            <a:avLst/>
          </a:prstGeom>
          <a:noFill/>
          <a:ln/>
        </p:spPr>
        <p:txBody>
          <a:bodyPr wrap="square" lIns="0" tIns="0" rIns="0" bIns="0" rtlCol="0" anchor="ctr"/>
          <a:lstStyle/>
          <a:p>
            <a:pPr indent="0" marL="0">
              <a:buNone/>
            </a:pPr>
            <a:r>
              <a:rPr lang="en-US" sz="1600" b="1" dirty="0">
                <a:solidFill>
                  <a:srgbClr val="1A2332"/>
                </a:solidFill>
                <a:latin typeface="Arial" pitchFamily="34" charset="0"/>
                <a:ea typeface="Arial" pitchFamily="34" charset="-122"/>
                <a:cs typeface="Arial" pitchFamily="34" charset="-120"/>
              </a:rPr>
              <a:t>8,000</a:t>
            </a:r>
            <a:endParaRPr lang="en-US" sz="1600" dirty="0"/>
          </a:p>
        </p:txBody>
      </p:sp>
      <p:sp>
        <p:nvSpPr>
          <p:cNvPr id="21" name="Text 18"/>
          <p:cNvSpPr/>
          <p:nvPr/>
        </p:nvSpPr>
        <p:spPr>
          <a:xfrm>
            <a:off x="6492240" y="3355848"/>
            <a:ext cx="21945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Utility customer relationships worldwide</a:t>
            </a:r>
            <a:endParaRPr lang="en-US" sz="1100" dirty="0"/>
          </a:p>
        </p:txBody>
      </p:sp>
      <p:sp>
        <p:nvSpPr>
          <p:cNvPr id="22" name="Shape 19"/>
          <p:cNvSpPr/>
          <p:nvPr/>
        </p:nvSpPr>
        <p:spPr>
          <a:xfrm>
            <a:off x="548640" y="3794760"/>
            <a:ext cx="8229600" cy="868680"/>
          </a:xfrm>
          <a:prstGeom prst="roundRect">
            <a:avLst>
              <a:gd name="adj" fmla="val 5263"/>
            </a:avLst>
          </a:prstGeom>
          <a:solidFill>
            <a:srgbClr val="DBEAFE"/>
          </a:solidFill>
          <a:ln/>
        </p:spPr>
      </p:sp>
      <p:sp>
        <p:nvSpPr>
          <p:cNvPr id="23" name="Text 20"/>
          <p:cNvSpPr/>
          <p:nvPr/>
        </p:nvSpPr>
        <p:spPr>
          <a:xfrm>
            <a:off x="731520" y="3840480"/>
            <a:ext cx="7863840" cy="777240"/>
          </a:xfrm>
          <a:prstGeom prst="rect">
            <a:avLst/>
          </a:prstGeom>
          <a:noFill/>
          <a:ln/>
        </p:spPr>
        <p:txBody>
          <a:bodyPr wrap="square" lIns="0" tIns="0" rIns="0" bIns="0" rtlCol="0" anchor="ctr"/>
          <a:lstStyle/>
          <a:p>
            <a:pPr indent="0" marL="0">
              <a:buNone/>
            </a:pPr>
            <a:r>
              <a:rPr lang="en-US" sz="1200" b="1" dirty="0">
                <a:solidFill>
                  <a:srgbClr val="1A2332"/>
                </a:solidFill>
                <a:latin typeface="Arial" pitchFamily="34" charset="0"/>
                <a:ea typeface="Arial" pitchFamily="34" charset="-122"/>
                <a:cs typeface="Arial" pitchFamily="34" charset="-120"/>
              </a:rPr>
              <a:t>Cross-sell has not started. </a:t>
            </a:r>
            <a:pPr indent="0" marL="0">
              <a:buNone/>
            </a:pPr>
            <a:r>
              <a:rPr lang="en-US" sz="1100" dirty="0">
                <a:solidFill>
                  <a:srgbClr val="374151"/>
                </a:solidFill>
                <a:latin typeface="Arial" pitchFamily="34" charset="0"/>
                <a:ea typeface="Arial" pitchFamily="34" charset="-122"/>
                <a:cs typeface="Arial" pitchFamily="34" charset="-120"/>
              </a:rPr>
              <a:t>Hooper (CFO, Q1 call): "The results to date have not really been any synergies per se... everything you saw in Resiliency Solutions is kind of the businesses we bought with no contribution from Itron." Resiliency runs at 75% GM into an 8,000-customer channel at near-zero incremental CAC.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lIns="0" tIns="0" rIns="0" bIns="0" rtlCol="0" anchor="ctr"/>
          <a:lstStyle/>
          <a:p>
            <a:pPr indent="0" marL="0">
              <a:buNone/>
            </a:pPr>
            <a:r>
              <a:rPr lang="en-US" sz="2600" b="1" dirty="0">
                <a:solidFill>
                  <a:srgbClr val="1A2332"/>
                </a:solidFill>
                <a:latin typeface="Arial" pitchFamily="34" charset="0"/>
                <a:ea typeface="Arial" pitchFamily="34" charset="-122"/>
                <a:cs typeface="Arial" pitchFamily="34" charset="-120"/>
              </a:rPr>
              <a:t>The Coiled Spring: DI App Penetration</a:t>
            </a:r>
            <a:endParaRPr lang="en-US" sz="2600" dirty="0"/>
          </a:p>
        </p:txBody>
      </p:sp>
      <p:sp>
        <p:nvSpPr>
          <p:cNvPr id="3" name="Text 1"/>
          <p:cNvSpPr/>
          <p:nvPr/>
        </p:nvSpPr>
        <p:spPr>
          <a:xfrm>
            <a:off x="548640" y="731520"/>
            <a:ext cx="8046720" cy="36576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17.5M+ DI-capable endpoints deployed. Only 3.8M actively running apps (~1 in 5). Each incremental activation is a software push at near-zero marginal cost.</a:t>
            </a:r>
            <a:endParaRPr lang="en-US" sz="1200" dirty="0"/>
          </a:p>
        </p:txBody>
      </p:sp>
      <p:sp>
        <p:nvSpPr>
          <p:cNvPr id="4" name="Shape 2"/>
          <p:cNvSpPr/>
          <p:nvPr/>
        </p:nvSpPr>
        <p:spPr>
          <a:xfrm>
            <a:off x="548640" y="1234440"/>
            <a:ext cx="8229600" cy="457200"/>
          </a:xfrm>
          <a:prstGeom prst="roundRect">
            <a:avLst>
              <a:gd name="adj" fmla="val 10000"/>
            </a:avLst>
          </a:prstGeom>
          <a:solidFill>
            <a:srgbClr val="F4F5F7"/>
          </a:solidFill>
          <a:ln/>
        </p:spPr>
      </p:sp>
      <p:sp>
        <p:nvSpPr>
          <p:cNvPr id="5" name="Text 3"/>
          <p:cNvSpPr/>
          <p:nvPr/>
        </p:nvSpPr>
        <p:spPr>
          <a:xfrm>
            <a:off x="731520" y="1261872"/>
            <a:ext cx="7863840" cy="402336"/>
          </a:xfrm>
          <a:prstGeom prst="rect">
            <a:avLst/>
          </a:prstGeom>
          <a:noFill/>
          <a:ln/>
        </p:spPr>
        <p:txBody>
          <a:bodyPr wrap="square" lIns="0" tIns="0" rIns="0" bIns="0" rtlCol="0" anchor="ctr"/>
          <a:lstStyle/>
          <a:p>
            <a:pPr indent="0" marL="0">
              <a:buNone/>
            </a:pPr>
            <a:r>
              <a:rPr lang="en-US" sz="1000" b="1" dirty="0">
                <a:solidFill>
                  <a:srgbClr val="374151"/>
                </a:solidFill>
                <a:latin typeface="Arial" pitchFamily="34" charset="0"/>
                <a:ea typeface="Arial" pitchFamily="34" charset="-122"/>
                <a:cs typeface="Arial" pitchFamily="34" charset="-120"/>
              </a:rPr>
              <a:t>Methodology: </a:t>
            </a:r>
            <a:pPr indent="0" marL="0">
              <a:buNone/>
            </a:pPr>
            <a:r>
              <a:rPr lang="en-US" sz="1000" dirty="0">
                <a:solidFill>
                  <a:srgbClr val="374151"/>
                </a:solidFill>
                <a:latin typeface="Arial" pitchFamily="34" charset="0"/>
                <a:ea typeface="Arial" pitchFamily="34" charset="-122"/>
                <a:cs typeface="Arial" pitchFamily="34" charset="-120"/>
              </a:rPr>
              <a:t>TTM Outcomes service revenue ($251M) ÷ 3.8M active endpoints = ~$66/endpoint/year. Service revenue tracks ARR (TTM total service rev $403M vs reported ARR $417M). Range uses $50 (conservative) to $66 (upper bound).</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8046720" cy="914400"/>
        </p:xfrm>
        <a:graphic>
          <a:graphicData uri="http://schemas.openxmlformats.org/drawingml/2006/table">
            <a:tbl>
              <a:tblPr/>
              <a:tblGrid>
                <a:gridCol w="1463040"/>
                <a:gridCol w="1463040"/>
                <a:gridCol w="1280160"/>
                <a:gridCol w="1828800"/>
                <a:gridCol w="1828800"/>
              </a:tblGrid>
              <a:tr h="292608">
                <a:tc>
                  <a:txBody>
                    <a:bodyPr/>
                    <a:lstStyle/>
                    <a:p>
                      <a:pPr indent="0" marL="0">
                        <a:buNone/>
                      </a:pPr>
                      <a:r>
                        <a:rPr lang="en-US" sz="1000" b="1" dirty="0">
                          <a:solidFill>
                            <a:srgbClr val="FFFFFF"/>
                          </a:solidFill>
                          <a:latin typeface="Arial" pitchFamily="34" charset="0"/>
                          <a:ea typeface="Arial" pitchFamily="34" charset="-122"/>
                          <a:cs typeface="Arial" pitchFamily="34" charset="-120"/>
                        </a:rPr>
                        <a:t>Penetration</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Active Endpoints</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Incremental</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ARR @ $50/ep</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ARR @ $66/ep</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solidFill>
                      <a:srgbClr val="1A2332"/>
                    </a:solidFill>
                  </a:tcPr>
                </a:tc>
              </a:tr>
              <a:tr h="274320">
                <a:tc>
                  <a:txBody>
                    <a:bodyPr/>
                    <a:lstStyle/>
                    <a:p>
                      <a:pPr indent="0" marL="0">
                        <a:buNone/>
                      </a:pPr>
                      <a:r>
                        <a:rPr lang="en-US" sz="1000" b="1" dirty="0">
                          <a:solidFill>
                            <a:srgbClr val="6B7280"/>
                          </a:solidFill>
                          <a:latin typeface="Arial" pitchFamily="34" charset="0"/>
                          <a:ea typeface="Arial" pitchFamily="34" charset="-122"/>
                          <a:cs typeface="Arial" pitchFamily="34" charset="-120"/>
                        </a:rPr>
                        <a:t>Current (~22%)</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Arial" pitchFamily="34" charset="0"/>
                          <a:ea typeface="Arial" pitchFamily="34" charset="-122"/>
                          <a:cs typeface="Arial" pitchFamily="34" charset="-120"/>
                        </a:rPr>
                        <a:t>3.8M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374151"/>
                          </a:solidFill>
                          <a:latin typeface="Arial" pitchFamily="34" charset="0"/>
                          <a:ea typeface="Arial" pitchFamily="34" charset="-122"/>
                          <a:cs typeface="Arial" pitchFamily="34" charset="-120"/>
                        </a:rPr>
                        <a:t>40% (2 in 5)</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374151"/>
                          </a:solidFill>
                          <a:latin typeface="Arial" pitchFamily="34" charset="0"/>
                          <a:ea typeface="Arial" pitchFamily="34" charset="-122"/>
                          <a:cs typeface="Arial" pitchFamily="34" charset="-120"/>
                        </a:rPr>
                        <a:t>7.0M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374151"/>
                          </a:solidFill>
                          <a:latin typeface="Arial" pitchFamily="34" charset="0"/>
                          <a:ea typeface="Arial" pitchFamily="34" charset="-122"/>
                          <a:cs typeface="Arial" pitchFamily="34" charset="-120"/>
                        </a:rPr>
                        <a:t>+3.2M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059669"/>
                          </a:solidFill>
                          <a:latin typeface="Arial" pitchFamily="34" charset="0"/>
                          <a:ea typeface="Arial" pitchFamily="34" charset="-122"/>
                          <a:cs typeface="Arial" pitchFamily="34" charset="-120"/>
                        </a:rPr>
                        <a:t>+$160M</a:t>
                      </a:r>
                      <a:endParaRPr lang="en-US" sz="11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059669"/>
                          </a:solidFill>
                          <a:latin typeface="Arial" pitchFamily="34" charset="0"/>
                          <a:ea typeface="Arial" pitchFamily="34" charset="-122"/>
                          <a:cs typeface="Arial" pitchFamily="34" charset="-120"/>
                        </a:rPr>
                        <a:t>+$211M</a:t>
                      </a:r>
                      <a:endParaRPr lang="en-US" sz="11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310896">
                <a:tc>
                  <a:txBody>
                    <a:bodyPr/>
                    <a:lstStyle/>
                    <a:p>
                      <a:pPr indent="0" marL="0">
                        <a:buNone/>
                      </a:pPr>
                      <a:r>
                        <a:rPr lang="en-US" sz="1000" b="1" dirty="0">
                          <a:solidFill>
                            <a:srgbClr val="374151"/>
                          </a:solidFill>
                          <a:latin typeface="Arial" pitchFamily="34" charset="0"/>
                          <a:ea typeface="Arial" pitchFamily="34" charset="-122"/>
                          <a:cs typeface="Arial" pitchFamily="34" charset="-120"/>
                        </a:rPr>
                        <a:t>60% (3 in 5)</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374151"/>
                          </a:solidFill>
                          <a:latin typeface="Arial" pitchFamily="34" charset="0"/>
                          <a:ea typeface="Arial" pitchFamily="34" charset="-122"/>
                          <a:cs typeface="Arial" pitchFamily="34" charset="-120"/>
                        </a:rPr>
                        <a:t>10.5M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374151"/>
                          </a:solidFill>
                          <a:latin typeface="Arial" pitchFamily="34" charset="0"/>
                          <a:ea typeface="Arial" pitchFamily="34" charset="-122"/>
                          <a:cs typeface="Arial" pitchFamily="34" charset="-120"/>
                        </a:rPr>
                        <a:t>+6.7M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059669"/>
                          </a:solidFill>
                          <a:latin typeface="Arial" pitchFamily="34" charset="0"/>
                          <a:ea typeface="Arial" pitchFamily="34" charset="-122"/>
                          <a:cs typeface="Arial" pitchFamily="34" charset="-120"/>
                        </a:rPr>
                        <a:t>+$335M</a:t>
                      </a:r>
                      <a:endParaRPr lang="en-US" sz="12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059669"/>
                          </a:solidFill>
                          <a:latin typeface="Arial" pitchFamily="34" charset="0"/>
                          <a:ea typeface="Arial" pitchFamily="34" charset="-122"/>
                          <a:cs typeface="Arial" pitchFamily="34" charset="-120"/>
                        </a:rPr>
                        <a:t>+$442M</a:t>
                      </a:r>
                      <a:endParaRPr lang="en-US" sz="12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374151"/>
                          </a:solidFill>
                          <a:latin typeface="Arial" pitchFamily="34" charset="0"/>
                          <a:ea typeface="Arial" pitchFamily="34" charset="-122"/>
                          <a:cs typeface="Arial" pitchFamily="34" charset="-120"/>
                        </a:rPr>
                        <a:t>80% (4 in 5)</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374151"/>
                          </a:solidFill>
                          <a:latin typeface="Arial" pitchFamily="34" charset="0"/>
                          <a:ea typeface="Arial" pitchFamily="34" charset="-122"/>
                          <a:cs typeface="Arial" pitchFamily="34" charset="-120"/>
                        </a:rPr>
                        <a:t>14.0M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374151"/>
                          </a:solidFill>
                          <a:latin typeface="Arial" pitchFamily="34" charset="0"/>
                          <a:ea typeface="Arial" pitchFamily="34" charset="-122"/>
                          <a:cs typeface="Arial" pitchFamily="34" charset="-120"/>
                        </a:rPr>
                        <a:t>+10.2M</a:t>
                      </a:r>
                      <a:endParaRPr lang="en-US" sz="10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059669"/>
                          </a:solidFill>
                          <a:latin typeface="Arial" pitchFamily="34" charset="0"/>
                          <a:ea typeface="Arial" pitchFamily="34" charset="-122"/>
                          <a:cs typeface="Arial" pitchFamily="34" charset="-120"/>
                        </a:rPr>
                        <a:t>+$510M</a:t>
                      </a:r>
                      <a:endParaRPr lang="en-US" sz="11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059669"/>
                          </a:solidFill>
                          <a:latin typeface="Arial" pitchFamily="34" charset="0"/>
                          <a:ea typeface="Arial" pitchFamily="34" charset="-122"/>
                          <a:cs typeface="Arial" pitchFamily="34" charset="-120"/>
                        </a:rPr>
                        <a:t>+$673M</a:t>
                      </a:r>
                      <a:endParaRPr lang="en-US" sz="1100" dirty="0">
                        <a:latin typeface="Arial" charset="0"/>
                        <a:ea typeface="Arial" charset="0"/>
                        <a:cs typeface="Arial" charset="0"/>
                      </a:endParaRPr>
                    </a:p>
                  </a:txBody>
                  <a:tcPr marL="91440" marR="91440" marT="45720" marB="45720">
                    <a:lnL w="5080" cap="flat" cmpd="sng" algn="ctr">
                      <a:solidFill>
                        <a:srgbClr val="E5E7EB"/>
                      </a:solidFill>
                      <a:prstDash val="solid"/>
                      <a:round/>
                      <a:headEnd type="none" w="med" len="med"/>
                      <a:tailEnd type="none" w="med" len="med"/>
                    </a:lnL>
                    <a:lnR w="5080" cap="flat" cmpd="sng" algn="ctr">
                      <a:solidFill>
                        <a:srgbClr val="E5E7EB"/>
                      </a:solidFill>
                      <a:prstDash val="solid"/>
                      <a:round/>
                      <a:headEnd type="none" w="med" len="med"/>
                      <a:tailEnd type="none" w="med" len="med"/>
                    </a:lnR>
                    <a:lnT w="5080" cap="flat" cmpd="sng" algn="ctr">
                      <a:solidFill>
                        <a:srgbClr val="E5E7EB"/>
                      </a:solidFill>
                      <a:prstDash val="solid"/>
                      <a:round/>
                      <a:headEnd type="none" w="med" len="med"/>
                      <a:tailEnd type="none" w="med" len="med"/>
                    </a:lnT>
                    <a:lnB w="5080"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548640" y="3383280"/>
            <a:ext cx="3840480" cy="640080"/>
          </a:xfrm>
          <a:prstGeom prst="roundRect">
            <a:avLst>
              <a:gd name="adj" fmla="val 7143"/>
            </a:avLst>
          </a:prstGeom>
          <a:solidFill>
            <a:srgbClr val="DBEAFE"/>
          </a:solidFill>
          <a:ln/>
        </p:spPr>
      </p:sp>
      <p:sp>
        <p:nvSpPr>
          <p:cNvPr id="8" name="Text 5"/>
          <p:cNvSpPr/>
          <p:nvPr/>
        </p:nvSpPr>
        <p:spPr>
          <a:xfrm>
            <a:off x="731520" y="3429000"/>
            <a:ext cx="3474720" cy="548640"/>
          </a:xfrm>
          <a:prstGeom prst="rect">
            <a:avLst/>
          </a:prstGeom>
          <a:noFill/>
          <a:ln/>
        </p:spPr>
        <p:txBody>
          <a:bodyPr wrap="square" lIns="0" tIns="0" rIns="0" bIns="0" rtlCol="0" anchor="ctr"/>
          <a:lstStyle/>
          <a:p>
            <a:pPr indent="0" marL="0">
              <a:buNone/>
            </a:pPr>
            <a:r>
              <a:rPr lang="en-US" sz="1100" b="1" dirty="0">
                <a:solidFill>
                  <a:srgbClr val="1A2332"/>
                </a:solidFill>
                <a:latin typeface="Arial" pitchFamily="34" charset="0"/>
                <a:ea typeface="Arial" pitchFamily="34" charset="-122"/>
                <a:cs typeface="Arial" pitchFamily="34" charset="-120"/>
              </a:rPr>
              <a:t>Proof of concept: </a:t>
            </a:r>
            <a:pPr indent="0" marL="0">
              <a:buNone/>
            </a:pPr>
            <a:r>
              <a:rPr lang="en-US" sz="1000" dirty="0">
                <a:solidFill>
                  <a:srgbClr val="374151"/>
                </a:solidFill>
                <a:latin typeface="Arial" pitchFamily="34" charset="0"/>
                <a:ea typeface="Arial" pitchFamily="34" charset="-122"/>
                <a:cs typeface="Arial" pitchFamily="34" charset="-120"/>
              </a:rPr>
              <a:t>Tampa Electric runs 5 DI apps per endpoint. If the full installed base reached even 3 apps/endpoint, the ARR upside is multiples of the current base.</a:t>
            </a:r>
            <a:endParaRPr lang="en-US" sz="1100" dirty="0"/>
          </a:p>
        </p:txBody>
      </p:sp>
      <p:sp>
        <p:nvSpPr>
          <p:cNvPr id="9" name="Shape 6"/>
          <p:cNvSpPr/>
          <p:nvPr/>
        </p:nvSpPr>
        <p:spPr>
          <a:xfrm>
            <a:off x="4572000" y="3383280"/>
            <a:ext cx="4206240" cy="640080"/>
          </a:xfrm>
          <a:prstGeom prst="roundRect">
            <a:avLst>
              <a:gd name="adj" fmla="val 7143"/>
            </a:avLst>
          </a:prstGeom>
          <a:solidFill>
            <a:srgbClr val="1A2332"/>
          </a:solidFill>
          <a:ln/>
        </p:spPr>
      </p:sp>
      <p:sp>
        <p:nvSpPr>
          <p:cNvPr id="10" name="Text 7"/>
          <p:cNvSpPr/>
          <p:nvPr/>
        </p:nvSpPr>
        <p:spPr>
          <a:xfrm>
            <a:off x="4754880" y="3429000"/>
            <a:ext cx="3840480" cy="548640"/>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Not in the base case. </a:t>
            </a:r>
            <a:pPr indent="0" marL="0">
              <a:buNone/>
            </a:pPr>
            <a:r>
              <a:rPr lang="en-US" sz="1000" dirty="0">
                <a:solidFill>
                  <a:srgbClr val="FFFFFF"/>
                </a:solidFill>
                <a:latin typeface="Arial" pitchFamily="34" charset="0"/>
                <a:ea typeface="Arial" pitchFamily="34" charset="-122"/>
                <a:cs typeface="Arial" pitchFamily="34" charset="-120"/>
              </a:rPr>
              <a:t>The $119–$138 target assumes current $417M ARR with zero incremental penetration. This table is pure optionality — upside the market cannot yet model.</a:t>
            </a:r>
            <a:endParaRPr lang="en-US" sz="1100" dirty="0"/>
          </a:p>
        </p:txBody>
      </p:sp>
      <p:sp>
        <p:nvSpPr>
          <p:cNvPr id="11" name="Text 8"/>
          <p:cNvSpPr/>
          <p:nvPr/>
        </p:nvSpPr>
        <p:spPr>
          <a:xfrm>
            <a:off x="548640" y="4206240"/>
            <a:ext cx="804672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NVIDIA partnership: Itron is the only major grid-edge platform with an NVIDIA compute partnership, enabling real-time AI inference at the endpoint.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411480"/>
          </a:xfrm>
          <a:prstGeom prst="rect">
            <a:avLst/>
          </a:prstGeom>
          <a:noFill/>
          <a:ln/>
        </p:spPr>
        <p:txBody>
          <a:bodyPr wrap="square" lIns="0" tIns="0" rIns="0" bIns="0" rtlCol="0" anchor="ctr"/>
          <a:lstStyle/>
          <a:p>
            <a:pPr indent="0" marL="0">
              <a:buNone/>
            </a:pPr>
            <a:r>
              <a:rPr lang="en-US" sz="2600" b="1" dirty="0">
                <a:solidFill>
                  <a:srgbClr val="1A2332"/>
                </a:solidFill>
                <a:latin typeface="Arial" pitchFamily="34" charset="0"/>
                <a:ea typeface="Arial" pitchFamily="34" charset="-122"/>
                <a:cs typeface="Arial" pitchFamily="34" charset="-120"/>
              </a:rPr>
              <a:t>Long-Term Upside: FY2030 Scenarios</a:t>
            </a:r>
            <a:endParaRPr lang="en-US" sz="2600" dirty="0"/>
          </a:p>
        </p:txBody>
      </p:sp>
      <p:sp>
        <p:nvSpPr>
          <p:cNvPr id="3" name="Text 1"/>
          <p:cNvSpPr/>
          <p:nvPr/>
        </p:nvSpPr>
        <p:spPr>
          <a:xfrm>
            <a:off x="548640" y="731520"/>
            <a:ext cx="8046720" cy="36576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The Investor Day (est. Q1 2027) will introduce long-term ARR targets. Management guides conservatively — they exceeded every 2024 Investor Day target by 300bp+ within 2 years.</a:t>
            </a:r>
            <a:endParaRPr lang="en-US" sz="1200" dirty="0"/>
          </a:p>
        </p:txBody>
      </p:sp>
      <p:sp>
        <p:nvSpPr>
          <p:cNvPr id="4" name="Shape 2"/>
          <p:cNvSpPr/>
          <p:nvPr/>
        </p:nvSpPr>
        <p:spPr>
          <a:xfrm>
            <a:off x="548640" y="1280160"/>
            <a:ext cx="3931920" cy="1371600"/>
          </a:xfrm>
          <a:prstGeom prst="roundRect">
            <a:avLst>
              <a:gd name="adj" fmla="val 3333"/>
            </a:avLst>
          </a:prstGeom>
          <a:solidFill>
            <a:srgbClr val="F4F5F7"/>
          </a:solidFill>
          <a:ln/>
        </p:spPr>
      </p:sp>
      <p:sp>
        <p:nvSpPr>
          <p:cNvPr id="5" name="Text 3"/>
          <p:cNvSpPr/>
          <p:nvPr/>
        </p:nvSpPr>
        <p:spPr>
          <a:xfrm>
            <a:off x="731520" y="1371600"/>
            <a:ext cx="2743200" cy="228600"/>
          </a:xfrm>
          <a:prstGeom prst="rect">
            <a:avLst/>
          </a:prstGeom>
          <a:noFill/>
          <a:ln/>
        </p:spPr>
        <p:txBody>
          <a:bodyPr wrap="square" lIns="0" tIns="0" rIns="0" bIns="0" rtlCol="0" anchor="ctr"/>
          <a:lstStyle/>
          <a:p>
            <a:pPr indent="0" marL="0">
              <a:buNone/>
            </a:pPr>
            <a:r>
              <a:rPr lang="en-US" sz="1300" b="1" dirty="0">
                <a:solidFill>
                  <a:srgbClr val="374151"/>
                </a:solidFill>
                <a:latin typeface="Arial" pitchFamily="34" charset="0"/>
                <a:ea typeface="Arial" pitchFamily="34" charset="-122"/>
                <a:cs typeface="Arial" pitchFamily="34" charset="-120"/>
              </a:rPr>
              <a:t>Resiliency Cross-Sell</a:t>
            </a:r>
            <a:endParaRPr lang="en-US" sz="1300" dirty="0"/>
          </a:p>
        </p:txBody>
      </p:sp>
      <p:sp>
        <p:nvSpPr>
          <p:cNvPr id="6" name="Text 4"/>
          <p:cNvSpPr/>
          <p:nvPr/>
        </p:nvSpPr>
        <p:spPr>
          <a:xfrm>
            <a:off x="731520" y="1645920"/>
            <a:ext cx="1828800" cy="411480"/>
          </a:xfrm>
          <a:prstGeom prst="rect">
            <a:avLst/>
          </a:prstGeom>
          <a:noFill/>
          <a:ln/>
        </p:spPr>
        <p:txBody>
          <a:bodyPr wrap="square" lIns="0" tIns="0" rIns="0" bIns="0" rtlCol="0" anchor="ctr"/>
          <a:lstStyle/>
          <a:p>
            <a:pPr indent="0" marL="0">
              <a:buNone/>
            </a:pPr>
            <a:r>
              <a:rPr lang="en-US" sz="3600" b="1" dirty="0">
                <a:solidFill>
                  <a:srgbClr val="1A2332"/>
                </a:solidFill>
                <a:latin typeface="Arial" pitchFamily="34" charset="0"/>
                <a:ea typeface="Arial" pitchFamily="34" charset="-122"/>
                <a:cs typeface="Arial" pitchFamily="34" charset="-120"/>
              </a:rPr>
              <a:t>$200M</a:t>
            </a:r>
            <a:endParaRPr lang="en-US" sz="3600" dirty="0"/>
          </a:p>
        </p:txBody>
      </p:sp>
      <p:sp>
        <p:nvSpPr>
          <p:cNvPr id="7" name="Text 5"/>
          <p:cNvSpPr/>
          <p:nvPr/>
        </p:nvSpPr>
        <p:spPr>
          <a:xfrm>
            <a:off x="2468880" y="1645920"/>
            <a:ext cx="1828800" cy="41148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incremental ARR</a:t>
            </a:r>
            <a:endParaRPr lang="en-US" sz="1300" dirty="0"/>
          </a:p>
        </p:txBody>
      </p:sp>
      <p:sp>
        <p:nvSpPr>
          <p:cNvPr id="8" name="Text 6"/>
          <p:cNvSpPr/>
          <p:nvPr/>
        </p:nvSpPr>
        <p:spPr>
          <a:xfrm>
            <a:off x="731520" y="2103120"/>
            <a:ext cx="3566160" cy="457200"/>
          </a:xfrm>
          <a:prstGeom prst="rect">
            <a:avLst/>
          </a:prstGeom>
          <a:noFill/>
          <a:ln/>
        </p:spPr>
        <p:txBody>
          <a:bodyPr wrap="square" lIns="0" tIns="0" rIns="0" bIns="0" rtlCol="0" anchor="ctr"/>
          <a:lstStyle/>
          <a:p>
            <a:pPr indent="0" marL="0">
              <a:lnSpc>
                <a:spcPct val="130000"/>
              </a:lnSpc>
              <a:buNone/>
            </a:pPr>
            <a:r>
              <a:rPr lang="en-US" sz="1000" dirty="0">
                <a:solidFill>
                  <a:srgbClr val="6B7280"/>
                </a:solidFill>
                <a:latin typeface="Arial" pitchFamily="34" charset="0"/>
                <a:ea typeface="Arial" pitchFamily="34" charset="-122"/>
                <a:cs typeface="Arial" pitchFamily="34" charset="-120"/>
              </a:rPr>
              <a:t>400 customers × $500K average contract value</a:t>
            </a:r>
            <a:endParaRPr lang="en-US" sz="1000" dirty="0"/>
          </a:p>
          <a:p>
            <a:pPr indent="0" marL="0">
              <a:lnSpc>
                <a:spcPct val="130000"/>
              </a:lnSpc>
              <a:buNone/>
            </a:pPr>
            <a:r>
              <a:rPr lang="en-US" sz="1000" dirty="0">
                <a:solidFill>
                  <a:srgbClr val="6B7280"/>
                </a:solidFill>
                <a:latin typeface="Arial" pitchFamily="34" charset="0"/>
                <a:ea typeface="Arial" pitchFamily="34" charset="-122"/>
                <a:cs typeface="Arial" pitchFamily="34" charset="-120"/>
              </a:rPr>
              <a:t>8,000 utility customer relationships worldwide</a:t>
            </a:r>
            <a:endParaRPr lang="en-US" sz="1000" dirty="0"/>
          </a:p>
          <a:p>
            <a:pPr indent="0" marL="0">
              <a:lnSpc>
                <a:spcPct val="130000"/>
              </a:lnSpc>
              <a:buNone/>
            </a:pPr>
            <a:r>
              <a:rPr lang="en-US" sz="1000" dirty="0">
                <a:solidFill>
                  <a:srgbClr val="6B7280"/>
                </a:solidFill>
                <a:latin typeface="Arial" pitchFamily="34" charset="0"/>
                <a:ea typeface="Arial" pitchFamily="34" charset="-122"/>
                <a:cs typeface="Arial" pitchFamily="34" charset="-120"/>
              </a:rPr>
              <a:t>Cross-sell has not started (Hooper, Q1 2026 call)</a:t>
            </a:r>
            <a:endParaRPr lang="en-US" sz="1000" dirty="0"/>
          </a:p>
        </p:txBody>
      </p:sp>
      <p:sp>
        <p:nvSpPr>
          <p:cNvPr id="9" name="Shape 7"/>
          <p:cNvSpPr/>
          <p:nvPr/>
        </p:nvSpPr>
        <p:spPr>
          <a:xfrm>
            <a:off x="4754880" y="1280160"/>
            <a:ext cx="4023360" cy="1371600"/>
          </a:xfrm>
          <a:prstGeom prst="roundRect">
            <a:avLst>
              <a:gd name="adj" fmla="val 3333"/>
            </a:avLst>
          </a:prstGeom>
          <a:solidFill>
            <a:srgbClr val="1A2332"/>
          </a:solidFill>
          <a:ln/>
        </p:spPr>
      </p:sp>
      <p:sp>
        <p:nvSpPr>
          <p:cNvPr id="10" name="Text 8"/>
          <p:cNvSpPr/>
          <p:nvPr/>
        </p:nvSpPr>
        <p:spPr>
          <a:xfrm>
            <a:off x="4937760" y="1371600"/>
            <a:ext cx="3657600" cy="228600"/>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Conservative FY2030E ARR</a:t>
            </a:r>
            <a:endParaRPr lang="en-US" sz="1200" dirty="0"/>
          </a:p>
        </p:txBody>
      </p:sp>
      <p:sp>
        <p:nvSpPr>
          <p:cNvPr id="11" name="Text 9"/>
          <p:cNvSpPr/>
          <p:nvPr/>
        </p:nvSpPr>
        <p:spPr>
          <a:xfrm>
            <a:off x="4937760" y="1645920"/>
            <a:ext cx="2286000" cy="4572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~$750M</a:t>
            </a:r>
            <a:endParaRPr lang="en-US" sz="4000" dirty="0"/>
          </a:p>
        </p:txBody>
      </p:sp>
      <p:sp>
        <p:nvSpPr>
          <p:cNvPr id="12" name="Text 10"/>
          <p:cNvSpPr/>
          <p:nvPr/>
        </p:nvSpPr>
        <p:spPr>
          <a:xfrm>
            <a:off x="7132320" y="1645920"/>
            <a:ext cx="146304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15% CAGR from</a:t>
            </a:r>
            <a:endParaRPr lang="en-US" sz="1100" dirty="0"/>
          </a:p>
          <a:p>
            <a:pPr indent="0" marL="0">
              <a:buNone/>
            </a:pPr>
            <a:r>
              <a:rPr lang="en-US" sz="1100" dirty="0">
                <a:solidFill>
                  <a:srgbClr val="6B7280"/>
                </a:solidFill>
                <a:latin typeface="Arial" pitchFamily="34" charset="0"/>
                <a:ea typeface="Arial" pitchFamily="34" charset="-122"/>
                <a:cs typeface="Arial" pitchFamily="34" charset="-120"/>
              </a:rPr>
              <a:t>FY2025 ($368M)</a:t>
            </a:r>
            <a:endParaRPr lang="en-US" sz="1100" dirty="0"/>
          </a:p>
        </p:txBody>
      </p:sp>
      <p:sp>
        <p:nvSpPr>
          <p:cNvPr id="13" name="Text 11"/>
          <p:cNvSpPr/>
          <p:nvPr/>
        </p:nvSpPr>
        <p:spPr>
          <a:xfrm>
            <a:off x="4937760" y="2194560"/>
            <a:ext cx="3657600" cy="365760"/>
          </a:xfrm>
          <a:prstGeom prst="rect">
            <a:avLst/>
          </a:prstGeom>
          <a:noFill/>
          <a:ln/>
        </p:spPr>
        <p:txBody>
          <a:bodyPr wrap="square" lIns="0" tIns="0" rIns="0" bIns="0" rtlCol="0" anchor="ctr"/>
          <a:lstStyle/>
          <a:p>
            <a:pPr indent="0" marL="0">
              <a:lnSpc>
                <a:spcPct val="130000"/>
              </a:lnSpc>
              <a:buNone/>
            </a:pPr>
            <a:r>
              <a:rPr lang="en-US" sz="1000" dirty="0">
                <a:solidFill>
                  <a:srgbClr val="6B7280"/>
                </a:solidFill>
                <a:latin typeface="Arial" pitchFamily="34" charset="0"/>
                <a:ea typeface="Arial" pitchFamily="34" charset="-122"/>
                <a:cs typeface="Arial" pitchFamily="34" charset="-120"/>
              </a:rPr>
              <a:t>Below current 20%+ growth rate. Does not include</a:t>
            </a:r>
            <a:endParaRPr lang="en-US" sz="1000" dirty="0"/>
          </a:p>
          <a:p>
            <a:pPr indent="0" marL="0">
              <a:lnSpc>
                <a:spcPct val="130000"/>
              </a:lnSpc>
              <a:buNone/>
            </a:pPr>
            <a:r>
              <a:rPr lang="en-US" sz="1000" dirty="0">
                <a:solidFill>
                  <a:srgbClr val="6B7280"/>
                </a:solidFill>
                <a:latin typeface="Arial" pitchFamily="34" charset="0"/>
                <a:ea typeface="Arial" pitchFamily="34" charset="-122"/>
                <a:cs typeface="Arial" pitchFamily="34" charset="-120"/>
              </a:rPr>
              <a:t>cross-sell or incremental DI app penetration.</a:t>
            </a:r>
            <a:endParaRPr lang="en-US" sz="1000" dirty="0"/>
          </a:p>
        </p:txBody>
      </p:sp>
      <p:sp>
        <p:nvSpPr>
          <p:cNvPr id="14" name="Text 12"/>
          <p:cNvSpPr/>
          <p:nvPr/>
        </p:nvSpPr>
        <p:spPr>
          <a:xfrm>
            <a:off x="548640" y="2880360"/>
            <a:ext cx="6400800" cy="274320"/>
          </a:xfrm>
          <a:prstGeom prst="rect">
            <a:avLst/>
          </a:prstGeom>
          <a:noFill/>
          <a:ln/>
        </p:spPr>
        <p:txBody>
          <a:bodyPr wrap="square" lIns="0" tIns="0" rIns="0" bIns="0" rtlCol="0" anchor="ctr"/>
          <a:lstStyle/>
          <a:p>
            <a:pPr indent="0" marL="0">
              <a:buNone/>
            </a:pPr>
            <a:r>
              <a:rPr lang="en-US" sz="1300" b="1" dirty="0">
                <a:solidFill>
                  <a:srgbClr val="374151"/>
                </a:solidFill>
                <a:latin typeface="Arial" pitchFamily="34" charset="0"/>
                <a:ea typeface="Arial" pitchFamily="34" charset="-122"/>
                <a:cs typeface="Arial" pitchFamily="34" charset="-120"/>
              </a:rPr>
              <a:t>FY2030 Valuation Sensitivity (undiscounted — potential stock price at time)</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8229600" cy="914400"/>
        </p:xfrm>
        <a:graphic>
          <a:graphicData uri="http://schemas.openxmlformats.org/drawingml/2006/table">
            <a:tbl>
              <a:tblPr/>
              <a:tblGrid>
                <a:gridCol w="1005840"/>
                <a:gridCol w="640080"/>
                <a:gridCol w="2011680"/>
                <a:gridCol w="1371600"/>
                <a:gridCol w="1554480"/>
                <a:gridCol w="1554480"/>
              </a:tblGrid>
              <a:tr h="292608">
                <a:tc>
                  <a:txBody>
                    <a:bodyPr/>
                    <a:lstStyle/>
                    <a:p>
                      <a:pPr indent="0" marL="0">
                        <a:buNone/>
                      </a:pPr>
                      <a:r>
                        <a:rPr lang="en-US" sz="1000" b="1" dirty="0">
                          <a:solidFill>
                            <a:srgbClr val="FFFFFF"/>
                          </a:solidFill>
                          <a:latin typeface="Arial" pitchFamily="34" charset="0"/>
                          <a:ea typeface="Arial" pitchFamily="34" charset="-122"/>
                          <a:cs typeface="Arial" pitchFamily="34" charset="-120"/>
                        </a:rPr>
                        <a:t>FY2030 ARR</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233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CAGR</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2332"/>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Scenario</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 8x</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 10x</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2332"/>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 12x</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2332"/>
                    </a:solidFill>
                  </a:tcPr>
                </a:tc>
              </a:tr>
              <a:tr h="292608">
                <a:tc>
                  <a:txBody>
                    <a:bodyPr/>
                    <a:lstStyle/>
                    <a:p>
                      <a:pPr indent="0" marL="0">
                        <a:buNone/>
                      </a:pPr>
                      <a:r>
                        <a:rPr lang="en-US" sz="1100" b="1" dirty="0">
                          <a:solidFill>
                            <a:srgbClr val="374151"/>
                          </a:solidFill>
                          <a:latin typeface="Arial" pitchFamily="34" charset="0"/>
                          <a:ea typeface="Arial" pitchFamily="34" charset="-122"/>
                          <a:cs typeface="Arial" pitchFamily="34" charset="-120"/>
                        </a:rPr>
                        <a:t>$750M</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Arial" pitchFamily="34" charset="0"/>
                          <a:ea typeface="Arial" pitchFamily="34" charset="-122"/>
                          <a:cs typeface="Arial" pitchFamily="34" charset="-120"/>
                        </a:rPr>
                        <a:t>15%</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6B7280"/>
                          </a:solidFill>
                          <a:latin typeface="Arial" pitchFamily="34" charset="0"/>
                          <a:ea typeface="Arial" pitchFamily="34" charset="-122"/>
                          <a:cs typeface="Arial" pitchFamily="34" charset="-120"/>
                        </a:rPr>
                        <a:t>Mgmt guide (conservative)</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374151"/>
                          </a:solidFill>
                          <a:latin typeface="Arial" pitchFamily="34" charset="0"/>
                          <a:ea typeface="Arial" pitchFamily="34" charset="-122"/>
                          <a:cs typeface="Arial" pitchFamily="34" charset="-120"/>
                        </a:rPr>
                        <a:t>$118</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059669"/>
                          </a:solidFill>
                          <a:latin typeface="Arial" pitchFamily="34" charset="0"/>
                          <a:ea typeface="Arial" pitchFamily="34" charset="-122"/>
                          <a:cs typeface="Arial" pitchFamily="34" charset="-120"/>
                        </a:rPr>
                        <a:t>$152</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059669"/>
                          </a:solidFill>
                          <a:latin typeface="Arial" pitchFamily="34" charset="0"/>
                          <a:ea typeface="Arial" pitchFamily="34" charset="-122"/>
                          <a:cs typeface="Arial" pitchFamily="34" charset="-120"/>
                        </a:rPr>
                        <a:t>$187</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100" b="1" dirty="0">
                          <a:solidFill>
                            <a:srgbClr val="374151"/>
                          </a:solidFill>
                          <a:latin typeface="Arial" pitchFamily="34" charset="0"/>
                          <a:ea typeface="Arial" pitchFamily="34" charset="-122"/>
                          <a:cs typeface="Arial" pitchFamily="34" charset="-120"/>
                        </a:rPr>
                        <a:t>$900M</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Arial" pitchFamily="34" charset="0"/>
                          <a:ea typeface="Arial" pitchFamily="34" charset="-122"/>
                          <a:cs typeface="Arial" pitchFamily="34" charset="-120"/>
                        </a:rPr>
                        <a:t>20%</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6B7280"/>
                          </a:solidFill>
                          <a:latin typeface="Arial" pitchFamily="34" charset="0"/>
                          <a:ea typeface="Arial" pitchFamily="34" charset="-122"/>
                          <a:cs typeface="Arial" pitchFamily="34" charset="-120"/>
                        </a:rPr>
                        <a:t>Sustain current growth</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374151"/>
                          </a:solidFill>
                          <a:latin typeface="Arial" pitchFamily="34" charset="0"/>
                          <a:ea typeface="Arial" pitchFamily="34" charset="-122"/>
                          <a:cs typeface="Arial" pitchFamily="34" charset="-120"/>
                        </a:rPr>
                        <a:t>$145</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059669"/>
                          </a:solidFill>
                          <a:latin typeface="Arial" pitchFamily="34" charset="0"/>
                          <a:ea typeface="Arial" pitchFamily="34" charset="-122"/>
                          <a:cs typeface="Arial" pitchFamily="34" charset="-120"/>
                        </a:rPr>
                        <a:t>$187</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059669"/>
                          </a:solidFill>
                          <a:latin typeface="Arial" pitchFamily="34" charset="0"/>
                          <a:ea typeface="Arial" pitchFamily="34" charset="-122"/>
                          <a:cs typeface="Arial" pitchFamily="34" charset="-120"/>
                        </a:rPr>
                        <a:t>$228</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100" b="1" dirty="0">
                          <a:solidFill>
                            <a:srgbClr val="374151"/>
                          </a:solidFill>
                          <a:latin typeface="Arial" pitchFamily="34" charset="0"/>
                          <a:ea typeface="Arial" pitchFamily="34" charset="-122"/>
                          <a:cs typeface="Arial" pitchFamily="34" charset="-120"/>
                        </a:rPr>
                        <a:t>$1.1B</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Arial" pitchFamily="34" charset="0"/>
                          <a:ea typeface="Arial" pitchFamily="34" charset="-122"/>
                          <a:cs typeface="Arial" pitchFamily="34" charset="-120"/>
                        </a:rPr>
                        <a:t>25%</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6B7280"/>
                          </a:solidFill>
                          <a:latin typeface="Arial" pitchFamily="34" charset="0"/>
                          <a:ea typeface="Arial" pitchFamily="34" charset="-122"/>
                          <a:cs typeface="Arial" pitchFamily="34" charset="-120"/>
                        </a:rPr>
                        <a:t>Cross-sell + penetration</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374151"/>
                          </a:solidFill>
                          <a:latin typeface="Arial" pitchFamily="34" charset="0"/>
                          <a:ea typeface="Arial" pitchFamily="34" charset="-122"/>
                          <a:cs typeface="Arial" pitchFamily="34" charset="-120"/>
                        </a:rPr>
                        <a:t>$182</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b="1" dirty="0">
                          <a:solidFill>
                            <a:srgbClr val="059669"/>
                          </a:solidFill>
                          <a:latin typeface="Arial" pitchFamily="34" charset="0"/>
                          <a:ea typeface="Arial" pitchFamily="34" charset="-122"/>
                          <a:cs typeface="Arial" pitchFamily="34" charset="-120"/>
                        </a:rPr>
                        <a:t>$232</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100" dirty="0">
                          <a:solidFill>
                            <a:srgbClr val="059669"/>
                          </a:solidFill>
                          <a:latin typeface="Arial" pitchFamily="34" charset="0"/>
                          <a:ea typeface="Arial" pitchFamily="34" charset="-122"/>
                          <a:cs typeface="Arial" pitchFamily="34" charset="-120"/>
                        </a:rPr>
                        <a:t>$282</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16" name="Shape 13"/>
          <p:cNvSpPr/>
          <p:nvPr/>
        </p:nvSpPr>
        <p:spPr>
          <a:xfrm>
            <a:off x="548640" y="4434840"/>
            <a:ext cx="8229600" cy="457200"/>
          </a:xfrm>
          <a:prstGeom prst="roundRect">
            <a:avLst>
              <a:gd name="adj" fmla="val 10000"/>
            </a:avLst>
          </a:prstGeom>
          <a:solidFill>
            <a:srgbClr val="DBEAFE"/>
          </a:solidFill>
          <a:ln/>
        </p:spPr>
      </p:sp>
      <p:sp>
        <p:nvSpPr>
          <p:cNvPr id="17" name="Text 14"/>
          <p:cNvSpPr/>
          <p:nvPr/>
        </p:nvSpPr>
        <p:spPr>
          <a:xfrm>
            <a:off x="731520" y="4462272"/>
            <a:ext cx="7863840" cy="402336"/>
          </a:xfrm>
          <a:prstGeom prst="rect">
            <a:avLst/>
          </a:prstGeom>
          <a:noFill/>
          <a:ln/>
        </p:spPr>
        <p:txBody>
          <a:bodyPr wrap="square" lIns="0" tIns="0" rIns="0" bIns="0" rtlCol="0" anchor="ctr"/>
          <a:lstStyle/>
          <a:p>
            <a:pPr indent="0" marL="0">
              <a:buNone/>
            </a:pPr>
            <a:r>
              <a:rPr lang="en-US" sz="1000" b="1" dirty="0">
                <a:solidFill>
                  <a:srgbClr val="1A2332"/>
                </a:solidFill>
                <a:latin typeface="Arial" pitchFamily="34" charset="0"/>
                <a:ea typeface="Arial" pitchFamily="34" charset="-122"/>
                <a:cs typeface="Arial" pitchFamily="34" charset="-120"/>
              </a:rPr>
              <a:t>Implied 4-year equity CAGR from $106: </a:t>
            </a:r>
            <a:pPr indent="0" marL="0">
              <a:buNone/>
            </a:pPr>
            <a:r>
              <a:rPr lang="en-US" sz="1000" dirty="0">
                <a:solidFill>
                  <a:srgbClr val="374151"/>
                </a:solidFill>
                <a:latin typeface="Arial" pitchFamily="34" charset="0"/>
                <a:ea typeface="Arial" pitchFamily="34" charset="-122"/>
                <a:cs typeface="Arial" pitchFamily="34" charset="-120"/>
              </a:rPr>
              <a:t>Conservative ($152) = 9%  |  Base ($187) = 15%  |  Upside ($232) = 22%. Excludes share buybacks and debt paydown — both accretive.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457200"/>
          </a:xfrm>
          <a:prstGeom prst="rect">
            <a:avLst/>
          </a:prstGeom>
          <a:noFill/>
          <a:ln/>
        </p:spPr>
        <p:txBody>
          <a:bodyPr wrap="square" lIns="0" tIns="0" rIns="0" bIns="0" rtlCol="0" anchor="ctr"/>
          <a:lstStyle/>
          <a:p>
            <a:pPr indent="0" marL="0">
              <a:buNone/>
            </a:pPr>
            <a:r>
              <a:rPr lang="en-US" sz="2800" b="1" dirty="0">
                <a:solidFill>
                  <a:srgbClr val="1A2332"/>
                </a:solidFill>
                <a:latin typeface="Arial" pitchFamily="34" charset="0"/>
                <a:ea typeface="Arial" pitchFamily="34" charset="-122"/>
                <a:cs typeface="Arial" pitchFamily="34" charset="-120"/>
              </a:rPr>
              <a:t>Catalyst: Investor Day Sequencing</a:t>
            </a:r>
            <a:endParaRPr lang="en-US" sz="2800" dirty="0"/>
          </a:p>
        </p:txBody>
      </p:sp>
      <p:sp>
        <p:nvSpPr>
          <p:cNvPr id="3" name="Text 1"/>
          <p:cNvSpPr/>
          <p:nvPr/>
        </p:nvSpPr>
        <p:spPr>
          <a:xfrm>
            <a:off x="548640" y="822960"/>
            <a:ext cx="8046720" cy="36576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The Investor Day is when management presents updated segment-level targets that give analysts the framework to rebuild their models around the software layer.</a:t>
            </a:r>
            <a:endParaRPr lang="en-US" sz="1200" dirty="0"/>
          </a:p>
        </p:txBody>
      </p:sp>
      <p:sp>
        <p:nvSpPr>
          <p:cNvPr id="4" name="Shape 2"/>
          <p:cNvSpPr/>
          <p:nvPr/>
        </p:nvSpPr>
        <p:spPr>
          <a:xfrm>
            <a:off x="914400" y="2011680"/>
            <a:ext cx="7315200" cy="0"/>
          </a:xfrm>
          <a:prstGeom prst="line">
            <a:avLst/>
          </a:prstGeom>
          <a:noFill/>
          <a:ln w="25400">
            <a:solidFill>
              <a:srgbClr val="1A2332"/>
            </a:solidFill>
            <a:prstDash val="solid"/>
          </a:ln>
        </p:spPr>
      </p:sp>
      <p:sp>
        <p:nvSpPr>
          <p:cNvPr id="5" name="Shape 3"/>
          <p:cNvSpPr/>
          <p:nvPr/>
        </p:nvSpPr>
        <p:spPr>
          <a:xfrm>
            <a:off x="1554480" y="1920240"/>
            <a:ext cx="182880" cy="182880"/>
          </a:xfrm>
          <a:prstGeom prst="ellipse">
            <a:avLst/>
          </a:prstGeom>
          <a:solidFill>
            <a:srgbClr val="059669"/>
          </a:solidFill>
          <a:ln/>
        </p:spPr>
      </p:sp>
      <p:sp>
        <p:nvSpPr>
          <p:cNvPr id="6" name="Text 4"/>
          <p:cNvSpPr/>
          <p:nvPr/>
        </p:nvSpPr>
        <p:spPr>
          <a:xfrm>
            <a:off x="1005840" y="1280160"/>
            <a:ext cx="1280160" cy="548640"/>
          </a:xfrm>
          <a:prstGeom prst="rect">
            <a:avLst/>
          </a:prstGeom>
          <a:noFill/>
          <a:ln/>
        </p:spPr>
        <p:txBody>
          <a:bodyPr wrap="square" lIns="0" tIns="0" rIns="0" bIns="0" rtlCol="0" anchor="ctr"/>
          <a:lstStyle/>
          <a:p>
            <a:pPr algn="ctr" indent="0" marL="0">
              <a:buNone/>
            </a:pPr>
            <a:r>
              <a:rPr lang="en-US" sz="1000" b="1" dirty="0">
                <a:solidFill>
                  <a:srgbClr val="374151"/>
                </a:solidFill>
                <a:latin typeface="Arial" pitchFamily="34" charset="0"/>
                <a:ea typeface="Arial" pitchFamily="34" charset="-122"/>
                <a:cs typeface="Arial" pitchFamily="34" charset="-120"/>
              </a:rPr>
              <a:t>Resiliency</a:t>
            </a:r>
            <a:endParaRPr lang="en-US" sz="1000" dirty="0"/>
          </a:p>
          <a:p>
            <a:pPr algn="ctr" indent="0" marL="0">
              <a:buNone/>
            </a:pPr>
            <a:r>
              <a:rPr lang="en-US" sz="1000" b="1" dirty="0">
                <a:solidFill>
                  <a:srgbClr val="374151"/>
                </a:solidFill>
                <a:latin typeface="Arial" pitchFamily="34" charset="0"/>
                <a:ea typeface="Arial" pitchFamily="34" charset="-122"/>
                <a:cs typeface="Arial" pitchFamily="34" charset="-120"/>
              </a:rPr>
              <a:t>Integration</a:t>
            </a:r>
            <a:endParaRPr lang="en-US" sz="1000" dirty="0"/>
          </a:p>
          <a:p>
            <a:pPr algn="ctr" indent="0" marL="0">
              <a:buNone/>
            </a:pPr>
            <a:r>
              <a:rPr lang="en-US" sz="1000" b="1" dirty="0">
                <a:solidFill>
                  <a:srgbClr val="374151"/>
                </a:solidFill>
                <a:latin typeface="Arial" pitchFamily="34" charset="0"/>
                <a:ea typeface="Arial" pitchFamily="34" charset="-122"/>
                <a:cs typeface="Arial" pitchFamily="34" charset="-120"/>
              </a:rPr>
              <a:t>Complete</a:t>
            </a:r>
            <a:endParaRPr lang="en-US" sz="1000" dirty="0"/>
          </a:p>
        </p:txBody>
      </p:sp>
      <p:sp>
        <p:nvSpPr>
          <p:cNvPr id="7" name="Text 5"/>
          <p:cNvSpPr/>
          <p:nvPr/>
        </p:nvSpPr>
        <p:spPr>
          <a:xfrm>
            <a:off x="1005840" y="2194560"/>
            <a:ext cx="128016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Jan 2027</a:t>
            </a:r>
            <a:endParaRPr lang="en-US" sz="900" dirty="0"/>
          </a:p>
        </p:txBody>
      </p:sp>
      <p:sp>
        <p:nvSpPr>
          <p:cNvPr id="8" name="Shape 6"/>
          <p:cNvSpPr/>
          <p:nvPr/>
        </p:nvSpPr>
        <p:spPr>
          <a:xfrm>
            <a:off x="3383280" y="1920240"/>
            <a:ext cx="182880" cy="182880"/>
          </a:xfrm>
          <a:prstGeom prst="ellipse">
            <a:avLst/>
          </a:prstGeom>
          <a:solidFill>
            <a:srgbClr val="2563EB"/>
          </a:solidFill>
          <a:ln/>
        </p:spPr>
      </p:sp>
      <p:sp>
        <p:nvSpPr>
          <p:cNvPr id="9" name="Text 7"/>
          <p:cNvSpPr/>
          <p:nvPr/>
        </p:nvSpPr>
        <p:spPr>
          <a:xfrm>
            <a:off x="2834640" y="1280160"/>
            <a:ext cx="1280160" cy="548640"/>
          </a:xfrm>
          <a:prstGeom prst="rect">
            <a:avLst/>
          </a:prstGeom>
          <a:noFill/>
          <a:ln/>
        </p:spPr>
        <p:txBody>
          <a:bodyPr wrap="square" lIns="0" tIns="0" rIns="0" bIns="0" rtlCol="0" anchor="ctr"/>
          <a:lstStyle/>
          <a:p>
            <a:pPr algn="ctr" indent="0" marL="0">
              <a:buNone/>
            </a:pPr>
            <a:r>
              <a:rPr lang="en-US" sz="1000" b="1" dirty="0">
                <a:solidFill>
                  <a:srgbClr val="374151"/>
                </a:solidFill>
                <a:latin typeface="Arial" pitchFamily="34" charset="0"/>
                <a:ea typeface="Arial" pitchFamily="34" charset="-122"/>
                <a:cs typeface="Arial" pitchFamily="34" charset="-120"/>
              </a:rPr>
              <a:t>Q4 2026</a:t>
            </a:r>
            <a:endParaRPr lang="en-US" sz="1000" dirty="0"/>
          </a:p>
          <a:p>
            <a:pPr algn="ctr" indent="0" marL="0">
              <a:buNone/>
            </a:pPr>
            <a:r>
              <a:rPr lang="en-US" sz="1000" b="1" dirty="0">
                <a:solidFill>
                  <a:srgbClr val="374151"/>
                </a:solidFill>
                <a:latin typeface="Arial" pitchFamily="34" charset="0"/>
                <a:ea typeface="Arial" pitchFamily="34" charset="-122"/>
                <a:cs typeface="Arial" pitchFamily="34" charset="-120"/>
              </a:rPr>
              <a:t>Earnings</a:t>
            </a:r>
            <a:endParaRPr lang="en-US" sz="1000" dirty="0"/>
          </a:p>
        </p:txBody>
      </p:sp>
      <p:sp>
        <p:nvSpPr>
          <p:cNvPr id="10" name="Text 8"/>
          <p:cNvSpPr/>
          <p:nvPr/>
        </p:nvSpPr>
        <p:spPr>
          <a:xfrm>
            <a:off x="2834640" y="2194560"/>
            <a:ext cx="128016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~Feb 2027</a:t>
            </a:r>
            <a:endParaRPr lang="en-US" sz="900" dirty="0"/>
          </a:p>
        </p:txBody>
      </p:sp>
      <p:sp>
        <p:nvSpPr>
          <p:cNvPr id="11" name="Shape 9"/>
          <p:cNvSpPr/>
          <p:nvPr/>
        </p:nvSpPr>
        <p:spPr>
          <a:xfrm>
            <a:off x="5212080" y="1920240"/>
            <a:ext cx="182880" cy="182880"/>
          </a:xfrm>
          <a:prstGeom prst="ellipse">
            <a:avLst/>
          </a:prstGeom>
          <a:solidFill>
            <a:srgbClr val="10B981"/>
          </a:solidFill>
          <a:ln/>
        </p:spPr>
      </p:sp>
      <p:sp>
        <p:nvSpPr>
          <p:cNvPr id="12" name="Text 10"/>
          <p:cNvSpPr/>
          <p:nvPr/>
        </p:nvSpPr>
        <p:spPr>
          <a:xfrm>
            <a:off x="4663440" y="1280160"/>
            <a:ext cx="1280160" cy="548640"/>
          </a:xfrm>
          <a:prstGeom prst="rect">
            <a:avLst/>
          </a:prstGeom>
          <a:noFill/>
          <a:ln/>
        </p:spPr>
        <p:txBody>
          <a:bodyPr wrap="square" lIns="0" tIns="0" rIns="0" bIns="0" rtlCol="0" anchor="ctr"/>
          <a:lstStyle/>
          <a:p>
            <a:pPr algn="ctr" indent="0" marL="0">
              <a:buNone/>
            </a:pPr>
            <a:r>
              <a:rPr lang="en-US" sz="1000" b="1" dirty="0">
                <a:solidFill>
                  <a:srgbClr val="374151"/>
                </a:solidFill>
                <a:latin typeface="Arial" pitchFamily="34" charset="0"/>
                <a:ea typeface="Arial" pitchFamily="34" charset="-122"/>
                <a:cs typeface="Arial" pitchFamily="34" charset="-120"/>
              </a:rPr>
              <a:t>Investor Day</a:t>
            </a:r>
            <a:endParaRPr lang="en-US" sz="1000" dirty="0"/>
          </a:p>
          <a:p>
            <a:pPr algn="ctr" indent="0" marL="0">
              <a:buNone/>
            </a:pPr>
            <a:r>
              <a:rPr lang="en-US" sz="1000" b="1" dirty="0">
                <a:solidFill>
                  <a:srgbClr val="374151"/>
                </a:solidFill>
                <a:latin typeface="Arial" pitchFamily="34" charset="0"/>
                <a:ea typeface="Arial" pitchFamily="34" charset="-122"/>
                <a:cs typeface="Arial" pitchFamily="34" charset="-120"/>
              </a:rPr>
              <a:t>Announced</a:t>
            </a:r>
            <a:endParaRPr lang="en-US" sz="1000" dirty="0"/>
          </a:p>
        </p:txBody>
      </p:sp>
      <p:sp>
        <p:nvSpPr>
          <p:cNvPr id="13" name="Text 11"/>
          <p:cNvSpPr/>
          <p:nvPr/>
        </p:nvSpPr>
        <p:spPr>
          <a:xfrm>
            <a:off x="4663440" y="2194560"/>
            <a:ext cx="128016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On earnings call</a:t>
            </a:r>
            <a:endParaRPr lang="en-US" sz="900" dirty="0"/>
          </a:p>
        </p:txBody>
      </p:sp>
      <p:sp>
        <p:nvSpPr>
          <p:cNvPr id="14" name="Shape 12"/>
          <p:cNvSpPr/>
          <p:nvPr/>
        </p:nvSpPr>
        <p:spPr>
          <a:xfrm>
            <a:off x="7040880" y="1920240"/>
            <a:ext cx="182880" cy="182880"/>
          </a:xfrm>
          <a:prstGeom prst="ellipse">
            <a:avLst/>
          </a:prstGeom>
          <a:solidFill>
            <a:srgbClr val="1A2332"/>
          </a:solidFill>
          <a:ln/>
        </p:spPr>
      </p:sp>
      <p:sp>
        <p:nvSpPr>
          <p:cNvPr id="15" name="Text 13"/>
          <p:cNvSpPr/>
          <p:nvPr/>
        </p:nvSpPr>
        <p:spPr>
          <a:xfrm>
            <a:off x="6492240" y="1280160"/>
            <a:ext cx="1280160" cy="548640"/>
          </a:xfrm>
          <a:prstGeom prst="rect">
            <a:avLst/>
          </a:prstGeom>
          <a:noFill/>
          <a:ln/>
        </p:spPr>
        <p:txBody>
          <a:bodyPr wrap="square" lIns="0" tIns="0" rIns="0" bIns="0" rtlCol="0" anchor="ctr"/>
          <a:lstStyle/>
          <a:p>
            <a:pPr algn="ctr" indent="0" marL="0">
              <a:buNone/>
            </a:pPr>
            <a:r>
              <a:rPr lang="en-US" sz="1000" b="1" dirty="0">
                <a:solidFill>
                  <a:srgbClr val="374151"/>
                </a:solidFill>
                <a:latin typeface="Arial" pitchFamily="34" charset="0"/>
                <a:ea typeface="Arial" pitchFamily="34" charset="-122"/>
                <a:cs typeface="Arial" pitchFamily="34" charset="-120"/>
              </a:rPr>
              <a:t>Investor Day</a:t>
            </a:r>
            <a:endParaRPr lang="en-US" sz="1000" dirty="0"/>
          </a:p>
          <a:p>
            <a:pPr algn="ctr" indent="0" marL="0">
              <a:buNone/>
            </a:pPr>
            <a:r>
              <a:rPr lang="en-US" sz="1000" b="1" dirty="0">
                <a:solidFill>
                  <a:srgbClr val="374151"/>
                </a:solidFill>
                <a:latin typeface="Arial" pitchFamily="34" charset="0"/>
                <a:ea typeface="Arial" pitchFamily="34" charset="-122"/>
                <a:cs typeface="Arial" pitchFamily="34" charset="-120"/>
              </a:rPr>
              <a:t>Held</a:t>
            </a:r>
            <a:endParaRPr lang="en-US" sz="1000" dirty="0"/>
          </a:p>
        </p:txBody>
      </p:sp>
      <p:sp>
        <p:nvSpPr>
          <p:cNvPr id="16" name="Text 14"/>
          <p:cNvSpPr/>
          <p:nvPr/>
        </p:nvSpPr>
        <p:spPr>
          <a:xfrm>
            <a:off x="6492240" y="2194560"/>
            <a:ext cx="128016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~Mar 2027</a:t>
            </a:r>
            <a:endParaRPr lang="en-US" sz="900" dirty="0"/>
          </a:p>
        </p:txBody>
      </p:sp>
      <p:sp>
        <p:nvSpPr>
          <p:cNvPr id="17" name="Shape 15"/>
          <p:cNvSpPr/>
          <p:nvPr/>
        </p:nvSpPr>
        <p:spPr>
          <a:xfrm>
            <a:off x="548640" y="2423160"/>
            <a:ext cx="8046720" cy="502920"/>
          </a:xfrm>
          <a:prstGeom prst="roundRect">
            <a:avLst>
              <a:gd name="adj" fmla="val 9091"/>
            </a:avLst>
          </a:prstGeom>
          <a:solidFill>
            <a:srgbClr val="F4F5F7"/>
          </a:solidFill>
          <a:ln/>
        </p:spPr>
      </p:sp>
      <p:sp>
        <p:nvSpPr>
          <p:cNvPr id="18" name="Text 16"/>
          <p:cNvSpPr/>
          <p:nvPr/>
        </p:nvSpPr>
        <p:spPr>
          <a:xfrm>
            <a:off x="731520" y="2468880"/>
            <a:ext cx="7680960" cy="411480"/>
          </a:xfrm>
          <a:prstGeom prst="rect">
            <a:avLst/>
          </a:prstGeom>
          <a:noFill/>
          <a:ln/>
        </p:spPr>
        <p:txBody>
          <a:bodyPr wrap="square" lIns="0" tIns="0" rIns="0" bIns="0" rtlCol="0" anchor="ctr"/>
          <a:lstStyle/>
          <a:p>
            <a:pPr indent="0" marL="0">
              <a:buNone/>
            </a:pPr>
            <a:r>
              <a:rPr lang="en-US" sz="1000" b="1" dirty="0">
                <a:solidFill>
                  <a:srgbClr val="374151"/>
                </a:solidFill>
                <a:latin typeface="Arial" pitchFamily="34" charset="0"/>
                <a:ea typeface="Arial" pitchFamily="34" charset="-122"/>
                <a:cs typeface="Arial" pitchFamily="34" charset="-120"/>
              </a:rPr>
              <a:t>Hooper (CFO, Q2 2026 call): </a:t>
            </a:r>
            <a:pPr indent="0" marL="0">
              <a:buNone/>
            </a:pPr>
            <a:r>
              <a:rPr lang="en-US" sz="1000" dirty="0">
                <a:solidFill>
                  <a:srgbClr val="374151"/>
                </a:solidFill>
                <a:latin typeface="Arial" pitchFamily="34" charset="0"/>
                <a:ea typeface="Arial" pitchFamily="34" charset="-122"/>
                <a:cs typeface="Arial" pitchFamily="34" charset="-120"/>
              </a:rPr>
              <a:t>Resiliency integration completes January. Management will present updated framework "shortly thereafter." Prior pattern: 2024 Investor Day announced on Q4 2023 earnings call (Feb 26) and held March 12 — 14 days.</a:t>
            </a:r>
            <a:endParaRPr lang="en-US" sz="1000" dirty="0"/>
          </a:p>
        </p:txBody>
      </p:sp>
      <p:sp>
        <p:nvSpPr>
          <p:cNvPr id="19" name="Text 17"/>
          <p:cNvSpPr/>
          <p:nvPr/>
        </p:nvSpPr>
        <p:spPr>
          <a:xfrm>
            <a:off x="548640" y="3063240"/>
            <a:ext cx="4572000" cy="228600"/>
          </a:xfrm>
          <a:prstGeom prst="rect">
            <a:avLst/>
          </a:prstGeom>
          <a:noFill/>
          <a:ln/>
        </p:spPr>
        <p:txBody>
          <a:bodyPr wrap="square" lIns="0" tIns="0" rIns="0" bIns="0" rtlCol="0" anchor="ctr"/>
          <a:lstStyle/>
          <a:p>
            <a:pPr indent="0" marL="0">
              <a:buNone/>
            </a:pPr>
            <a:r>
              <a:rPr lang="en-US" sz="1300" b="1" dirty="0">
                <a:solidFill>
                  <a:srgbClr val="374151"/>
                </a:solidFill>
                <a:latin typeface="Arial" pitchFamily="34" charset="0"/>
                <a:ea typeface="Arial" pitchFamily="34" charset="-122"/>
                <a:cs typeface="Arial" pitchFamily="34" charset="-120"/>
              </a:rPr>
              <a:t>What the Investor Day Must Deliver</a:t>
            </a:r>
            <a:endParaRPr lang="en-US" sz="1300" dirty="0"/>
          </a:p>
        </p:txBody>
      </p:sp>
      <p:sp>
        <p:nvSpPr>
          <p:cNvPr id="20" name="Shape 18"/>
          <p:cNvSpPr/>
          <p:nvPr/>
        </p:nvSpPr>
        <p:spPr>
          <a:xfrm>
            <a:off x="640080" y="3374136"/>
            <a:ext cx="237744" cy="237744"/>
          </a:xfrm>
          <a:prstGeom prst="ellipse">
            <a:avLst/>
          </a:prstGeom>
          <a:solidFill>
            <a:srgbClr val="1A2332"/>
          </a:solidFill>
          <a:ln/>
        </p:spPr>
      </p:sp>
      <p:sp>
        <p:nvSpPr>
          <p:cNvPr id="21" name="Text 19"/>
          <p:cNvSpPr/>
          <p:nvPr/>
        </p:nvSpPr>
        <p:spPr>
          <a:xfrm>
            <a:off x="640080" y="337413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20"/>
          <p:cNvSpPr/>
          <p:nvPr/>
        </p:nvSpPr>
        <p:spPr>
          <a:xfrm>
            <a:off x="1005840" y="3337560"/>
            <a:ext cx="7680960" cy="310896"/>
          </a:xfrm>
          <a:prstGeom prst="rect">
            <a:avLst/>
          </a:prstGeom>
          <a:noFill/>
          <a:ln/>
        </p:spPr>
        <p:txBody>
          <a:bodyPr wrap="square" lIns="0" tIns="0" rIns="0" bIns="0" rtlCol="0" anchor="ctr"/>
          <a:lstStyle/>
          <a:p>
            <a:pPr indent="0" marL="0">
              <a:buNone/>
            </a:pPr>
            <a:r>
              <a:rPr lang="en-US" sz="1000" dirty="0">
                <a:solidFill>
                  <a:srgbClr val="374151"/>
                </a:solidFill>
                <a:latin typeface="Arial" pitchFamily="34" charset="0"/>
                <a:ea typeface="Arial" pitchFamily="34" charset="-122"/>
                <a:cs typeface="Arial" pitchFamily="34" charset="-120"/>
              </a:rPr>
              <a:t>Long-term ARR targets with growth rate attached — gives analysts a SaaS-style DCF framework</a:t>
            </a:r>
            <a:endParaRPr lang="en-US" sz="1000" dirty="0"/>
          </a:p>
        </p:txBody>
      </p:sp>
      <p:sp>
        <p:nvSpPr>
          <p:cNvPr id="23" name="Shape 21"/>
          <p:cNvSpPr/>
          <p:nvPr/>
        </p:nvSpPr>
        <p:spPr>
          <a:xfrm>
            <a:off x="640080" y="3721608"/>
            <a:ext cx="237744" cy="237744"/>
          </a:xfrm>
          <a:prstGeom prst="ellipse">
            <a:avLst/>
          </a:prstGeom>
          <a:solidFill>
            <a:srgbClr val="1A2332"/>
          </a:solidFill>
          <a:ln/>
        </p:spPr>
      </p:sp>
      <p:sp>
        <p:nvSpPr>
          <p:cNvPr id="24" name="Text 22"/>
          <p:cNvSpPr/>
          <p:nvPr/>
        </p:nvSpPr>
        <p:spPr>
          <a:xfrm>
            <a:off x="640080" y="372160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3"/>
          <p:cNvSpPr/>
          <p:nvPr/>
        </p:nvSpPr>
        <p:spPr>
          <a:xfrm>
            <a:off x="1005840" y="3685032"/>
            <a:ext cx="7680960" cy="310896"/>
          </a:xfrm>
          <a:prstGeom prst="rect">
            <a:avLst/>
          </a:prstGeom>
          <a:noFill/>
          <a:ln/>
        </p:spPr>
        <p:txBody>
          <a:bodyPr wrap="square" lIns="0" tIns="0" rIns="0" bIns="0" rtlCol="0" anchor="ctr"/>
          <a:lstStyle/>
          <a:p>
            <a:pPr indent="0" marL="0">
              <a:buNone/>
            </a:pPr>
            <a:r>
              <a:rPr lang="en-US" sz="1000" dirty="0">
                <a:solidFill>
                  <a:srgbClr val="374151"/>
                </a:solidFill>
                <a:latin typeface="Arial" pitchFamily="34" charset="0"/>
                <a:ea typeface="Arial" pitchFamily="34" charset="-122"/>
                <a:cs typeface="Arial" pitchFamily="34" charset="-120"/>
              </a:rPr>
              <a:t>Resiliency cross-sell numbers — quantifies the distribution advantage into 8,000 utility customers</a:t>
            </a:r>
            <a:endParaRPr lang="en-US" sz="1000" dirty="0"/>
          </a:p>
        </p:txBody>
      </p:sp>
      <p:sp>
        <p:nvSpPr>
          <p:cNvPr id="26" name="Shape 24"/>
          <p:cNvSpPr/>
          <p:nvPr/>
        </p:nvSpPr>
        <p:spPr>
          <a:xfrm>
            <a:off x="640080" y="4069080"/>
            <a:ext cx="237744" cy="237744"/>
          </a:xfrm>
          <a:prstGeom prst="ellipse">
            <a:avLst/>
          </a:prstGeom>
          <a:solidFill>
            <a:srgbClr val="1A2332"/>
          </a:solidFill>
          <a:ln/>
        </p:spPr>
      </p:sp>
      <p:sp>
        <p:nvSpPr>
          <p:cNvPr id="27" name="Text 25"/>
          <p:cNvSpPr/>
          <p:nvPr/>
        </p:nvSpPr>
        <p:spPr>
          <a:xfrm>
            <a:off x="640080" y="406908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6"/>
          <p:cNvSpPr/>
          <p:nvPr/>
        </p:nvSpPr>
        <p:spPr>
          <a:xfrm>
            <a:off x="1005840" y="4032504"/>
            <a:ext cx="7680960" cy="310896"/>
          </a:xfrm>
          <a:prstGeom prst="rect">
            <a:avLst/>
          </a:prstGeom>
          <a:noFill/>
          <a:ln/>
        </p:spPr>
        <p:txBody>
          <a:bodyPr wrap="square" lIns="0" tIns="0" rIns="0" bIns="0" rtlCol="0" anchor="ctr"/>
          <a:lstStyle/>
          <a:p>
            <a:pPr indent="0" marL="0">
              <a:buNone/>
            </a:pPr>
            <a:r>
              <a:rPr lang="en-US" sz="1000" dirty="0">
                <a:solidFill>
                  <a:srgbClr val="374151"/>
                </a:solidFill>
                <a:latin typeface="Arial" pitchFamily="34" charset="0"/>
                <a:ea typeface="Arial" pitchFamily="34" charset="-122"/>
                <a:cs typeface="Arial" pitchFamily="34" charset="-120"/>
              </a:rPr>
              <a:t>Updated margin targets — current actuals already exceed 2024 Investor Day 2027 targets across all metrics</a:t>
            </a:r>
            <a:endParaRPr lang="en-US" sz="1000" dirty="0"/>
          </a:p>
        </p:txBody>
      </p:sp>
      <p:sp>
        <p:nvSpPr>
          <p:cNvPr id="29" name="Shape 27"/>
          <p:cNvSpPr/>
          <p:nvPr/>
        </p:nvSpPr>
        <p:spPr>
          <a:xfrm>
            <a:off x="548640" y="4434840"/>
            <a:ext cx="8046720" cy="502920"/>
          </a:xfrm>
          <a:prstGeom prst="roundRect">
            <a:avLst>
              <a:gd name="adj" fmla="val 9091"/>
            </a:avLst>
          </a:prstGeom>
          <a:solidFill>
            <a:srgbClr val="DBEAFE"/>
          </a:solidFill>
          <a:ln/>
        </p:spPr>
      </p:sp>
      <p:sp>
        <p:nvSpPr>
          <p:cNvPr id="30" name="Text 28"/>
          <p:cNvSpPr/>
          <p:nvPr/>
        </p:nvSpPr>
        <p:spPr>
          <a:xfrm>
            <a:off x="731520" y="4462272"/>
            <a:ext cx="7680960" cy="438912"/>
          </a:xfrm>
          <a:prstGeom prst="rect">
            <a:avLst/>
          </a:prstGeom>
          <a:noFill/>
          <a:ln/>
        </p:spPr>
        <p:txBody>
          <a:bodyPr wrap="square" lIns="0" tIns="0" rIns="0" bIns="0" rtlCol="0" anchor="ctr"/>
          <a:lstStyle/>
          <a:p>
            <a:pPr indent="0" marL="0">
              <a:buNone/>
            </a:pPr>
            <a:r>
              <a:rPr lang="en-US" sz="900" b="1" dirty="0">
                <a:solidFill>
                  <a:srgbClr val="1A2332"/>
                </a:solidFill>
                <a:latin typeface="Arial" pitchFamily="34" charset="0"/>
                <a:ea typeface="Arial" pitchFamily="34" charset="-122"/>
                <a:cs typeface="Arial" pitchFamily="34" charset="-120"/>
              </a:rPr>
              <a:t>Why this matters: </a:t>
            </a:r>
            <a:pPr indent="0" marL="0">
              <a:buNone/>
            </a:pPr>
            <a:r>
              <a:rPr lang="en-US" sz="900" dirty="0">
                <a:solidFill>
                  <a:srgbClr val="374151"/>
                </a:solidFill>
                <a:latin typeface="Arial" pitchFamily="34" charset="0"/>
                <a:ea typeface="Arial" pitchFamily="34" charset="-122"/>
                <a:cs typeface="Arial" pitchFamily="34" charset="-120"/>
              </a:rPr>
              <a:t>5 sell-side desks acknowledge the software transition. None models it as software. ARR only appeared in the FY2025 10-K — 4 data points is insufficient for a model rebuild. The Investor Day provides the management-sanctioned framework that gives analysts permission to re-anchor.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548640" y="320040"/>
            <a:ext cx="73152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Risks &amp; Break Conditions</a:t>
            </a:r>
            <a:endParaRPr lang="en-US" sz="2800" dirty="0"/>
          </a:p>
        </p:txBody>
      </p:sp>
      <p:sp>
        <p:nvSpPr>
          <p:cNvPr id="3" name="Text 1"/>
          <p:cNvSpPr/>
          <p:nvPr/>
        </p:nvSpPr>
        <p:spPr>
          <a:xfrm>
            <a:off x="548640" y="822960"/>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Pre-registered. Quantifiable. Not price-action based.</a:t>
            </a:r>
            <a:endParaRPr lang="en-US" sz="1300" dirty="0"/>
          </a:p>
        </p:txBody>
      </p:sp>
      <p:sp>
        <p:nvSpPr>
          <p:cNvPr id="4" name="Shape 2"/>
          <p:cNvSpPr/>
          <p:nvPr/>
        </p:nvSpPr>
        <p:spPr>
          <a:xfrm>
            <a:off x="548640" y="1371600"/>
            <a:ext cx="8046720" cy="548640"/>
          </a:xfrm>
          <a:prstGeom prst="roundRect">
            <a:avLst>
              <a:gd name="adj" fmla="val 8333"/>
            </a:avLst>
          </a:prstGeom>
          <a:solidFill>
            <a:srgbClr val="111822"/>
          </a:solidFill>
          <a:ln/>
        </p:spPr>
      </p:sp>
      <p:sp>
        <p:nvSpPr>
          <p:cNvPr id="5" name="Text 3"/>
          <p:cNvSpPr/>
          <p:nvPr/>
        </p:nvSpPr>
        <p:spPr>
          <a:xfrm>
            <a:off x="731520" y="141732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ARR growth &lt;15% YoY</a:t>
            </a:r>
            <a:endParaRPr lang="en-US" sz="1200" dirty="0"/>
          </a:p>
        </p:txBody>
      </p:sp>
      <p:sp>
        <p:nvSpPr>
          <p:cNvPr id="6" name="Text 4"/>
          <p:cNvSpPr/>
          <p:nvPr/>
        </p:nvSpPr>
        <p:spPr>
          <a:xfrm>
            <a:off x="731520" y="1645920"/>
            <a:ext cx="3200400" cy="18288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Two consecutive quarters</a:t>
            </a:r>
            <a:endParaRPr lang="en-US" sz="900" dirty="0"/>
          </a:p>
        </p:txBody>
      </p:sp>
      <p:sp>
        <p:nvSpPr>
          <p:cNvPr id="7" name="Text 5"/>
          <p:cNvSpPr/>
          <p:nvPr/>
        </p:nvSpPr>
        <p:spPr>
          <a:xfrm>
            <a:off x="4114800" y="1417320"/>
            <a:ext cx="1645920" cy="457200"/>
          </a:xfrm>
          <a:prstGeom prst="rect">
            <a:avLst/>
          </a:prstGeom>
          <a:noFill/>
          <a:ln/>
        </p:spPr>
        <p:txBody>
          <a:bodyPr wrap="square" lIns="0" tIns="0" rIns="0" bIns="0" rtlCol="0" anchor="ctr"/>
          <a:lstStyle/>
          <a:p>
            <a:pPr indent="0" marL="0">
              <a:buNone/>
            </a:pPr>
            <a:r>
              <a:rPr lang="en-US" sz="1000" b="1" dirty="0">
                <a:solidFill>
                  <a:srgbClr val="F59E0B"/>
                </a:solidFill>
                <a:latin typeface="Arial" pitchFamily="34" charset="0"/>
                <a:ea typeface="Arial" pitchFamily="34" charset="-122"/>
                <a:cs typeface="Arial" pitchFamily="34" charset="-120"/>
              </a:rPr>
              <a:t>Exit review</a:t>
            </a:r>
            <a:endParaRPr lang="en-US" sz="1000" dirty="0"/>
          </a:p>
        </p:txBody>
      </p:sp>
      <p:sp>
        <p:nvSpPr>
          <p:cNvPr id="8" name="Text 6"/>
          <p:cNvSpPr/>
          <p:nvPr/>
        </p:nvSpPr>
        <p:spPr>
          <a:xfrm>
            <a:off x="5943600" y="1417320"/>
            <a:ext cx="2468880" cy="457200"/>
          </a:xfrm>
          <a:prstGeom prst="rect">
            <a:avLst/>
          </a:prstGeom>
          <a:noFill/>
          <a:ln/>
        </p:spPr>
        <p:txBody>
          <a:bodyPr wrap="square" lIns="0" tIns="0" rIns="0" bIns="0" rtlCol="0" anchor="ctr"/>
          <a:lstStyle/>
          <a:p>
            <a:pPr algn="r" indent="0" marL="0">
              <a:buNone/>
            </a:pPr>
            <a:r>
              <a:rPr lang="en-US" sz="1000" dirty="0">
                <a:solidFill>
                  <a:srgbClr val="10B981"/>
                </a:solidFill>
                <a:latin typeface="Arial" pitchFamily="34" charset="0"/>
                <a:ea typeface="Arial" pitchFamily="34" charset="-122"/>
                <a:cs typeface="Arial" pitchFamily="34" charset="-120"/>
              </a:rPr>
              <a:t>Q2: 21% (6pp buffer)</a:t>
            </a:r>
            <a:endParaRPr lang="en-US" sz="1000" dirty="0"/>
          </a:p>
        </p:txBody>
      </p:sp>
      <p:sp>
        <p:nvSpPr>
          <p:cNvPr id="9" name="Shape 7"/>
          <p:cNvSpPr/>
          <p:nvPr/>
        </p:nvSpPr>
        <p:spPr>
          <a:xfrm>
            <a:off x="548640" y="2029968"/>
            <a:ext cx="8046720" cy="548640"/>
          </a:xfrm>
          <a:prstGeom prst="roundRect">
            <a:avLst>
              <a:gd name="adj" fmla="val 8333"/>
            </a:avLst>
          </a:prstGeom>
          <a:solidFill>
            <a:srgbClr val="111822"/>
          </a:solidFill>
          <a:ln/>
        </p:spPr>
      </p:sp>
      <p:sp>
        <p:nvSpPr>
          <p:cNvPr id="10" name="Text 8"/>
          <p:cNvSpPr/>
          <p:nvPr/>
        </p:nvSpPr>
        <p:spPr>
          <a:xfrm>
            <a:off x="731520" y="2075688"/>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Net Debt / EBITDA &gt;5.0x</a:t>
            </a:r>
            <a:endParaRPr lang="en-US" sz="1200" dirty="0"/>
          </a:p>
        </p:txBody>
      </p:sp>
      <p:sp>
        <p:nvSpPr>
          <p:cNvPr id="11" name="Text 9"/>
          <p:cNvSpPr/>
          <p:nvPr/>
        </p:nvSpPr>
        <p:spPr>
          <a:xfrm>
            <a:off x="731520" y="2304288"/>
            <a:ext cx="3200400" cy="18288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Any reported quarter</a:t>
            </a:r>
            <a:endParaRPr lang="en-US" sz="900" dirty="0"/>
          </a:p>
        </p:txBody>
      </p:sp>
      <p:sp>
        <p:nvSpPr>
          <p:cNvPr id="12" name="Text 10"/>
          <p:cNvSpPr/>
          <p:nvPr/>
        </p:nvSpPr>
        <p:spPr>
          <a:xfrm>
            <a:off x="4114800" y="2075688"/>
            <a:ext cx="1645920" cy="457200"/>
          </a:xfrm>
          <a:prstGeom prst="rect">
            <a:avLst/>
          </a:prstGeom>
          <a:noFill/>
          <a:ln/>
        </p:spPr>
        <p:txBody>
          <a:bodyPr wrap="square" lIns="0" tIns="0" rIns="0" bIns="0" rtlCol="0" anchor="ctr"/>
          <a:lstStyle/>
          <a:p>
            <a:pPr indent="0" marL="0">
              <a:buNone/>
            </a:pPr>
            <a:r>
              <a:rPr lang="en-US" sz="1000" b="1" dirty="0">
                <a:solidFill>
                  <a:srgbClr val="F59E0B"/>
                </a:solidFill>
                <a:latin typeface="Arial" pitchFamily="34" charset="0"/>
                <a:ea typeface="Arial" pitchFamily="34" charset="-122"/>
                <a:cs typeface="Arial" pitchFamily="34" charset="-120"/>
              </a:rPr>
              <a:t>Exit review</a:t>
            </a:r>
            <a:endParaRPr lang="en-US" sz="1000" dirty="0"/>
          </a:p>
        </p:txBody>
      </p:sp>
      <p:sp>
        <p:nvSpPr>
          <p:cNvPr id="13" name="Text 11"/>
          <p:cNvSpPr/>
          <p:nvPr/>
        </p:nvSpPr>
        <p:spPr>
          <a:xfrm>
            <a:off x="5943600" y="2075688"/>
            <a:ext cx="2468880" cy="457200"/>
          </a:xfrm>
          <a:prstGeom prst="rect">
            <a:avLst/>
          </a:prstGeom>
          <a:noFill/>
          <a:ln/>
        </p:spPr>
        <p:txBody>
          <a:bodyPr wrap="square" lIns="0" tIns="0" rIns="0" bIns="0" rtlCol="0" anchor="ctr"/>
          <a:lstStyle/>
          <a:p>
            <a:pPr algn="r" indent="0" marL="0">
              <a:buNone/>
            </a:pPr>
            <a:r>
              <a:rPr lang="en-US" sz="1000" dirty="0">
                <a:solidFill>
                  <a:srgbClr val="10B981"/>
                </a:solidFill>
                <a:latin typeface="Arial" pitchFamily="34" charset="0"/>
                <a:ea typeface="Arial" pitchFamily="34" charset="-122"/>
                <a:cs typeface="Arial" pitchFamily="34" charset="-120"/>
              </a:rPr>
              <a:t>Current: ~2.3x</a:t>
            </a:r>
            <a:endParaRPr lang="en-US" sz="1000" dirty="0"/>
          </a:p>
        </p:txBody>
      </p:sp>
      <p:sp>
        <p:nvSpPr>
          <p:cNvPr id="14" name="Shape 12"/>
          <p:cNvSpPr/>
          <p:nvPr/>
        </p:nvSpPr>
        <p:spPr>
          <a:xfrm>
            <a:off x="548640" y="2688336"/>
            <a:ext cx="8046720" cy="548640"/>
          </a:xfrm>
          <a:prstGeom prst="roundRect">
            <a:avLst>
              <a:gd name="adj" fmla="val 8333"/>
            </a:avLst>
          </a:prstGeom>
          <a:solidFill>
            <a:srgbClr val="111822"/>
          </a:solidFill>
          <a:ln/>
        </p:spPr>
      </p:sp>
      <p:sp>
        <p:nvSpPr>
          <p:cNvPr id="15" name="Text 13"/>
          <p:cNvSpPr/>
          <p:nvPr/>
        </p:nvSpPr>
        <p:spPr>
          <a:xfrm>
            <a:off x="731520" y="2734056"/>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Book-to-bill &lt;0.8x + pipeline contraction</a:t>
            </a:r>
            <a:endParaRPr lang="en-US" sz="1200" dirty="0"/>
          </a:p>
        </p:txBody>
      </p:sp>
      <p:sp>
        <p:nvSpPr>
          <p:cNvPr id="16" name="Text 14"/>
          <p:cNvSpPr/>
          <p:nvPr/>
        </p:nvSpPr>
        <p:spPr>
          <a:xfrm>
            <a:off x="731520" y="2962656"/>
            <a:ext cx="3200400" cy="18288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Two consecutive quarters</a:t>
            </a:r>
            <a:endParaRPr lang="en-US" sz="900" dirty="0"/>
          </a:p>
        </p:txBody>
      </p:sp>
      <p:sp>
        <p:nvSpPr>
          <p:cNvPr id="17" name="Text 15"/>
          <p:cNvSpPr/>
          <p:nvPr/>
        </p:nvSpPr>
        <p:spPr>
          <a:xfrm>
            <a:off x="4114800" y="2734056"/>
            <a:ext cx="1645920" cy="457200"/>
          </a:xfrm>
          <a:prstGeom prst="rect">
            <a:avLst/>
          </a:prstGeom>
          <a:noFill/>
          <a:ln/>
        </p:spPr>
        <p:txBody>
          <a:bodyPr wrap="square" lIns="0" tIns="0" rIns="0" bIns="0" rtlCol="0" anchor="ctr"/>
          <a:lstStyle/>
          <a:p>
            <a:pPr indent="0" marL="0">
              <a:buNone/>
            </a:pPr>
            <a:r>
              <a:rPr lang="en-US" sz="1000" b="1" dirty="0">
                <a:solidFill>
                  <a:srgbClr val="F59E0B"/>
                </a:solidFill>
                <a:latin typeface="Arial" pitchFamily="34" charset="0"/>
                <a:ea typeface="Arial" pitchFamily="34" charset="-122"/>
                <a:cs typeface="Arial" pitchFamily="34" charset="-120"/>
              </a:rPr>
              <a:t>Exit review</a:t>
            </a:r>
            <a:endParaRPr lang="en-US" sz="1000" dirty="0"/>
          </a:p>
        </p:txBody>
      </p:sp>
      <p:sp>
        <p:nvSpPr>
          <p:cNvPr id="18" name="Text 16"/>
          <p:cNvSpPr/>
          <p:nvPr/>
        </p:nvSpPr>
        <p:spPr>
          <a:xfrm>
            <a:off x="5943600" y="2734056"/>
            <a:ext cx="2468880" cy="457200"/>
          </a:xfrm>
          <a:prstGeom prst="rect">
            <a:avLst/>
          </a:prstGeom>
          <a:noFill/>
          <a:ln/>
        </p:spPr>
        <p:txBody>
          <a:bodyPr wrap="square" lIns="0" tIns="0" rIns="0" bIns="0" rtlCol="0" anchor="ctr"/>
          <a:lstStyle/>
          <a:p>
            <a:pPr algn="r" indent="0" marL="0">
              <a:buNone/>
            </a:pPr>
            <a:r>
              <a:rPr lang="en-US" sz="1000" dirty="0">
                <a:solidFill>
                  <a:srgbClr val="10B981"/>
                </a:solidFill>
                <a:latin typeface="Arial" pitchFamily="34" charset="0"/>
                <a:ea typeface="Arial" pitchFamily="34" charset="-122"/>
                <a:cs typeface="Arial" pitchFamily="34" charset="-120"/>
              </a:rPr>
              <a:t>TTM: 0.93x; pipeline record</a:t>
            </a:r>
            <a:endParaRPr lang="en-US" sz="1000" dirty="0"/>
          </a:p>
        </p:txBody>
      </p:sp>
      <p:sp>
        <p:nvSpPr>
          <p:cNvPr id="19" name="Shape 17"/>
          <p:cNvSpPr/>
          <p:nvPr/>
        </p:nvSpPr>
        <p:spPr>
          <a:xfrm>
            <a:off x="548640" y="3346704"/>
            <a:ext cx="8046720" cy="548640"/>
          </a:xfrm>
          <a:prstGeom prst="roundRect">
            <a:avLst>
              <a:gd name="adj" fmla="val 8333"/>
            </a:avLst>
          </a:prstGeom>
          <a:solidFill>
            <a:srgbClr val="111822"/>
          </a:solidFill>
          <a:ln/>
        </p:spPr>
      </p:sp>
      <p:sp>
        <p:nvSpPr>
          <p:cNvPr id="20" name="Text 18"/>
          <p:cNvSpPr/>
          <p:nvPr/>
        </p:nvSpPr>
        <p:spPr>
          <a:xfrm>
            <a:off x="731520" y="3392424"/>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Mgmt characterizes margins as cyclical</a:t>
            </a:r>
            <a:endParaRPr lang="en-US" sz="1200" dirty="0"/>
          </a:p>
        </p:txBody>
      </p:sp>
      <p:sp>
        <p:nvSpPr>
          <p:cNvPr id="21" name="Text 19"/>
          <p:cNvSpPr/>
          <p:nvPr/>
        </p:nvSpPr>
        <p:spPr>
          <a:xfrm>
            <a:off x="731520" y="3621024"/>
            <a:ext cx="3200400" cy="18288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Any public statement</a:t>
            </a:r>
            <a:endParaRPr lang="en-US" sz="900" dirty="0"/>
          </a:p>
        </p:txBody>
      </p:sp>
      <p:sp>
        <p:nvSpPr>
          <p:cNvPr id="22" name="Text 20"/>
          <p:cNvSpPr/>
          <p:nvPr/>
        </p:nvSpPr>
        <p:spPr>
          <a:xfrm>
            <a:off x="4114800" y="3392424"/>
            <a:ext cx="1645920" cy="45720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Immediate exit</a:t>
            </a:r>
            <a:endParaRPr lang="en-US" sz="1000" dirty="0"/>
          </a:p>
        </p:txBody>
      </p:sp>
      <p:sp>
        <p:nvSpPr>
          <p:cNvPr id="23" name="Text 21"/>
          <p:cNvSpPr/>
          <p:nvPr/>
        </p:nvSpPr>
        <p:spPr>
          <a:xfrm>
            <a:off x="5943600" y="3392424"/>
            <a:ext cx="2468880" cy="457200"/>
          </a:xfrm>
          <a:prstGeom prst="rect">
            <a:avLst/>
          </a:prstGeom>
          <a:noFill/>
          <a:ln/>
        </p:spPr>
        <p:txBody>
          <a:bodyPr wrap="square" lIns="0" tIns="0" rIns="0" bIns="0" rtlCol="0" anchor="ctr"/>
          <a:lstStyle/>
          <a:p>
            <a:pPr algn="r" indent="0" marL="0">
              <a:buNone/>
            </a:pPr>
            <a:r>
              <a:rPr lang="en-US" sz="1000" dirty="0">
                <a:solidFill>
                  <a:srgbClr val="10B981"/>
                </a:solidFill>
                <a:latin typeface="Arial" pitchFamily="34" charset="0"/>
                <a:ea typeface="Arial" pitchFamily="34" charset="-122"/>
                <a:cs typeface="Arial" pitchFamily="34" charset="-120"/>
              </a:rPr>
              <a:t>CFO: improvements structural</a:t>
            </a:r>
            <a:endParaRPr lang="en-US" sz="1000" dirty="0"/>
          </a:p>
        </p:txBody>
      </p:sp>
      <p:sp>
        <p:nvSpPr>
          <p:cNvPr id="24" name="Shape 22"/>
          <p:cNvSpPr/>
          <p:nvPr/>
        </p:nvSpPr>
        <p:spPr>
          <a:xfrm>
            <a:off x="548640" y="4005072"/>
            <a:ext cx="8046720" cy="548640"/>
          </a:xfrm>
          <a:prstGeom prst="roundRect">
            <a:avLst>
              <a:gd name="adj" fmla="val 8333"/>
            </a:avLst>
          </a:prstGeom>
          <a:solidFill>
            <a:srgbClr val="111822"/>
          </a:solidFill>
          <a:ln/>
        </p:spPr>
      </p:sp>
      <p:sp>
        <p:nvSpPr>
          <p:cNvPr id="25" name="Text 23"/>
          <p:cNvSpPr/>
          <p:nvPr/>
        </p:nvSpPr>
        <p:spPr>
          <a:xfrm>
            <a:off x="731520" y="4050792"/>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Investor Day delayed beyond Q1 2027</a:t>
            </a:r>
            <a:endParaRPr lang="en-US" sz="1200" dirty="0"/>
          </a:p>
        </p:txBody>
      </p:sp>
      <p:sp>
        <p:nvSpPr>
          <p:cNvPr id="26" name="Text 24"/>
          <p:cNvSpPr/>
          <p:nvPr/>
        </p:nvSpPr>
        <p:spPr>
          <a:xfrm>
            <a:off x="731520" y="4279392"/>
            <a:ext cx="3200400" cy="18288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a:t>
            </a:r>
            <a:endParaRPr lang="en-US" sz="900" dirty="0"/>
          </a:p>
        </p:txBody>
      </p:sp>
      <p:sp>
        <p:nvSpPr>
          <p:cNvPr id="27" name="Text 25"/>
          <p:cNvSpPr/>
          <p:nvPr/>
        </p:nvSpPr>
        <p:spPr>
          <a:xfrm>
            <a:off x="4114800" y="4050792"/>
            <a:ext cx="1645920" cy="457200"/>
          </a:xfrm>
          <a:prstGeom prst="rect">
            <a:avLst/>
          </a:prstGeom>
          <a:noFill/>
          <a:ln/>
        </p:spPr>
        <p:txBody>
          <a:bodyPr wrap="square" lIns="0" tIns="0" rIns="0" bIns="0" rtlCol="0" anchor="ctr"/>
          <a:lstStyle/>
          <a:p>
            <a:pPr indent="0" marL="0">
              <a:buNone/>
            </a:pPr>
            <a:r>
              <a:rPr lang="en-US" sz="1000" b="1" dirty="0">
                <a:solidFill>
                  <a:srgbClr val="F59E0B"/>
                </a:solidFill>
                <a:latin typeface="Arial" pitchFamily="34" charset="0"/>
                <a:ea typeface="Arial" pitchFamily="34" charset="-122"/>
                <a:cs typeface="Arial" pitchFamily="34" charset="-120"/>
              </a:rPr>
              <a:t>Thesis extends, not ends</a:t>
            </a:r>
            <a:endParaRPr lang="en-US" sz="1000" dirty="0"/>
          </a:p>
        </p:txBody>
      </p:sp>
      <p:sp>
        <p:nvSpPr>
          <p:cNvPr id="28" name="Text 26"/>
          <p:cNvSpPr/>
          <p:nvPr/>
        </p:nvSpPr>
        <p:spPr>
          <a:xfrm>
            <a:off x="5943600" y="4050792"/>
            <a:ext cx="2468880" cy="457200"/>
          </a:xfrm>
          <a:prstGeom prst="rect">
            <a:avLst/>
          </a:prstGeom>
          <a:noFill/>
          <a:ln/>
        </p:spPr>
        <p:txBody>
          <a:bodyPr wrap="square" lIns="0" tIns="0" rIns="0" bIns="0" rtlCol="0" anchor="ctr"/>
          <a:lstStyle/>
          <a:p>
            <a:pPr algn="r" indent="0" marL="0">
              <a:buNone/>
            </a:pPr>
            <a:r>
              <a:rPr lang="en-US" sz="1000" dirty="0">
                <a:solidFill>
                  <a:srgbClr val="10B981"/>
                </a:solidFill>
                <a:latin typeface="Arial" pitchFamily="34" charset="0"/>
                <a:ea typeface="Arial" pitchFamily="34" charset="-122"/>
                <a:cs typeface="Arial" pitchFamily="34" charset="-120"/>
              </a:rPr>
              <a:t>Integration Jan '27; on track</a:t>
            </a:r>
            <a:endParaRPr lang="en-US" sz="1000" dirty="0"/>
          </a:p>
        </p:txBody>
      </p:sp>
      <p:sp>
        <p:nvSpPr>
          <p:cNvPr id="29" name="Text 27"/>
          <p:cNvSpPr/>
          <p:nvPr/>
        </p:nvSpPr>
        <p:spPr>
          <a:xfrm>
            <a:off x="548640" y="4572000"/>
            <a:ext cx="8046720" cy="27432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All figures sourced from Itron 10-K/10-Q filings, quarterly earnings calls (Deitrich &amp; Hooper verbatim), and sell-side research.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2026-08-05T07:03:29Z</dcterms:created>
  <dcterms:modified xsi:type="dcterms:W3CDTF">2026-08-05T07:03:29Z</dcterms:modified>
</cp:coreProperties>
</file>